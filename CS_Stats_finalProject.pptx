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287000"/>
  <p:notesSz cx="6858000" cy="9144000"/>
  <p:embeddedFontLst>
    <p:embeddedFont>
      <p:font typeface="Arimo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4" d="100"/>
          <a:sy n="34" d="100"/>
        </p:scale>
        <p:origin x="898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5605c4f72_1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g3a5605c4f72_1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0f9b55b4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g390f9b55b4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910af2f81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g3910af2f81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5605c4f72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g3a5605c4f72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5605c4f72_1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g3a5605c4f72_1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a5605c4f72_1_3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g3a5605c4f72_1_3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5605c4f72_1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g3a5605c4f72_1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a5605c4f72_1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g3a5605c4f72_1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a5605c4f72_1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g3a5605c4f72_1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90f9b55b46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g390f9b55b46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a5605c4f72_1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g3a5605c4f72_1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a5605c4f72_1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g3a5605c4f72_1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a5605c4f72_1_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g3a5605c4f72_1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a5605c4f72_1_2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g3a5605c4f72_1_2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a5605c4f72_1_2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g3a5605c4f72_1_2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a68af15e9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g3a68af15e9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kaggle.com/datasets/solomonameh/spotify-music-dataset?resource=download" TargetMode="Externa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generated/sklearn.ensemble.ExtraTreesRegressor.html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scikit-learn.org/stable/modules/generated/sklearn.feature_selection.mutual_info_regression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4D44A6"/>
            </a:gs>
            <a:gs pos="50000">
              <a:srgbClr val="000000"/>
            </a:gs>
            <a:gs pos="100000">
              <a:srgbClr val="000000"/>
            </a:gs>
          </a:gsLst>
          <a:lin ang="5400000" scaled="0"/>
        </a:gra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05551" y="2565575"/>
            <a:ext cx="11391277" cy="5155851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028638" y="1771325"/>
            <a:ext cx="8922900" cy="49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Modeling with Spotify Data</a:t>
            </a:r>
            <a:endParaRPr sz="120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86" name="Google Shape;86;p13"/>
          <p:cNvCxnSpPr/>
          <p:nvPr/>
        </p:nvCxnSpPr>
        <p:spPr>
          <a:xfrm>
            <a:off x="381741" y="607341"/>
            <a:ext cx="10197950" cy="0"/>
          </a:xfrm>
          <a:prstGeom prst="straightConnector1">
            <a:avLst/>
          </a:prstGeom>
          <a:noFill/>
          <a:ln w="38100" cap="flat" cmpd="sng">
            <a:solidFill>
              <a:srgbClr val="FFFFFF">
                <a:alpha val="35294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7" name="Google Shape;87;p13"/>
          <p:cNvSpPr txBox="1"/>
          <p:nvPr/>
        </p:nvSpPr>
        <p:spPr>
          <a:xfrm>
            <a:off x="381741" y="138711"/>
            <a:ext cx="2669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Fall 2025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9720900" y="138688"/>
            <a:ext cx="1080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CS 329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2769850" y="8243438"/>
            <a:ext cx="5440500" cy="7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By: Olivia Pan &amp; Jamie Ngo</a:t>
            </a:r>
            <a:endParaRPr sz="32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85725" y="1592376"/>
            <a:ext cx="7102275" cy="71022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4D44A6"/>
            </a:gs>
            <a:gs pos="50000">
              <a:srgbClr val="000000"/>
            </a:gs>
            <a:gs pos="100000">
              <a:srgbClr val="000000"/>
            </a:gs>
          </a:gsLst>
          <a:lin ang="0" scaled="0"/>
        </a:gra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/>
          <p:cNvPicPr preferRelativeResize="0"/>
          <p:nvPr/>
        </p:nvPicPr>
        <p:blipFill rotWithShape="1">
          <a:blip r:embed="rId3">
            <a:alphaModFix/>
          </a:blip>
          <a:srcRect t="30522" b="30522"/>
          <a:stretch/>
        </p:blipFill>
        <p:spPr>
          <a:xfrm>
            <a:off x="15237104" y="750216"/>
            <a:ext cx="2666760" cy="15592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6" name="Google Shape;96;p14"/>
          <p:cNvCxnSpPr/>
          <p:nvPr/>
        </p:nvCxnSpPr>
        <p:spPr>
          <a:xfrm>
            <a:off x="381741" y="607341"/>
            <a:ext cx="17526912" cy="0"/>
          </a:xfrm>
          <a:prstGeom prst="straightConnector1">
            <a:avLst/>
          </a:prstGeom>
          <a:noFill/>
          <a:ln w="38100" cap="flat" cmpd="sng">
            <a:solidFill>
              <a:srgbClr val="FFFFFF">
                <a:alpha val="35294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7" name="Google Shape;97;p14"/>
          <p:cNvCxnSpPr/>
          <p:nvPr/>
        </p:nvCxnSpPr>
        <p:spPr>
          <a:xfrm>
            <a:off x="379347" y="2456210"/>
            <a:ext cx="17526912" cy="0"/>
          </a:xfrm>
          <a:prstGeom prst="straightConnector1">
            <a:avLst/>
          </a:prstGeom>
          <a:noFill/>
          <a:ln w="38100" cap="flat" cmpd="sng">
            <a:solidFill>
              <a:srgbClr val="FFFFFF">
                <a:alpha val="35294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8" name="Google Shape;98;p14"/>
          <p:cNvCxnSpPr/>
          <p:nvPr/>
        </p:nvCxnSpPr>
        <p:spPr>
          <a:xfrm>
            <a:off x="379347" y="4305078"/>
            <a:ext cx="17526912" cy="0"/>
          </a:xfrm>
          <a:prstGeom prst="straightConnector1">
            <a:avLst/>
          </a:prstGeom>
          <a:noFill/>
          <a:ln w="38100" cap="flat" cmpd="sng">
            <a:solidFill>
              <a:srgbClr val="FFFFFF">
                <a:alpha val="35294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9" name="Google Shape;99;p14"/>
          <p:cNvCxnSpPr/>
          <p:nvPr/>
        </p:nvCxnSpPr>
        <p:spPr>
          <a:xfrm>
            <a:off x="379347" y="6153946"/>
            <a:ext cx="17526912" cy="0"/>
          </a:xfrm>
          <a:prstGeom prst="straightConnector1">
            <a:avLst/>
          </a:prstGeom>
          <a:noFill/>
          <a:ln w="38100" cap="flat" cmpd="sng">
            <a:solidFill>
              <a:srgbClr val="FFFFFF">
                <a:alpha val="35294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0" name="Google Shape;100;p14"/>
          <p:cNvCxnSpPr/>
          <p:nvPr/>
        </p:nvCxnSpPr>
        <p:spPr>
          <a:xfrm>
            <a:off x="376953" y="8002814"/>
            <a:ext cx="17526912" cy="0"/>
          </a:xfrm>
          <a:prstGeom prst="straightConnector1">
            <a:avLst/>
          </a:prstGeom>
          <a:noFill/>
          <a:ln w="38100" cap="flat" cmpd="sng">
            <a:solidFill>
              <a:srgbClr val="FFFFFF">
                <a:alpha val="35294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1" name="Google Shape;101;p14"/>
          <p:cNvCxnSpPr/>
          <p:nvPr/>
        </p:nvCxnSpPr>
        <p:spPr>
          <a:xfrm>
            <a:off x="376953" y="9851682"/>
            <a:ext cx="17526912" cy="0"/>
          </a:xfrm>
          <a:prstGeom prst="straightConnector1">
            <a:avLst/>
          </a:prstGeom>
          <a:noFill/>
          <a:ln w="38100" cap="flat" cmpd="sng">
            <a:solidFill>
              <a:srgbClr val="FFFFFF">
                <a:alpha val="35294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02" name="Google Shape;102;p14"/>
          <p:cNvPicPr preferRelativeResize="0"/>
          <p:nvPr/>
        </p:nvPicPr>
        <p:blipFill rotWithShape="1">
          <a:blip r:embed="rId4">
            <a:alphaModFix/>
          </a:blip>
          <a:srcRect t="6198" b="6197"/>
          <a:stretch/>
        </p:blipFill>
        <p:spPr>
          <a:xfrm>
            <a:off x="15237104" y="2599085"/>
            <a:ext cx="2671549" cy="15592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/>
          <p:cNvPicPr preferRelativeResize="0"/>
          <p:nvPr/>
        </p:nvPicPr>
        <p:blipFill rotWithShape="1">
          <a:blip r:embed="rId5">
            <a:alphaModFix/>
          </a:blip>
          <a:srcRect t="6040" b="6040"/>
          <a:stretch/>
        </p:blipFill>
        <p:spPr>
          <a:xfrm>
            <a:off x="15237104" y="4447953"/>
            <a:ext cx="2661972" cy="15592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/>
          <p:cNvPicPr preferRelativeResize="0"/>
          <p:nvPr/>
        </p:nvPicPr>
        <p:blipFill rotWithShape="1">
          <a:blip r:embed="rId6">
            <a:alphaModFix/>
          </a:blip>
          <a:srcRect t="6119" b="6118"/>
          <a:stretch/>
        </p:blipFill>
        <p:spPr>
          <a:xfrm>
            <a:off x="15237104" y="6296821"/>
            <a:ext cx="2666760" cy="15592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/>
          <p:cNvPicPr preferRelativeResize="0"/>
          <p:nvPr/>
        </p:nvPicPr>
        <p:blipFill rotWithShape="1">
          <a:blip r:embed="rId7">
            <a:alphaModFix/>
          </a:blip>
          <a:srcRect t="6225" b="6225"/>
          <a:stretch/>
        </p:blipFill>
        <p:spPr>
          <a:xfrm>
            <a:off x="15237104" y="8145689"/>
            <a:ext cx="2671549" cy="1559268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381741" y="809125"/>
            <a:ext cx="10467525" cy="1327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01 - INTRODUCTION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381752" y="2657600"/>
            <a:ext cx="132603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02 - </a:t>
            </a:r>
            <a:r>
              <a:rPr lang="en-US" sz="8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VISUALIZE THE DATA 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381741" y="4506098"/>
            <a:ext cx="104676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03 - </a:t>
            </a:r>
            <a:r>
              <a:rPr lang="en-US" sz="8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METHOD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379347" y="6354584"/>
            <a:ext cx="104676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04 - </a:t>
            </a:r>
            <a:r>
              <a:rPr lang="en-US" sz="8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RESULTS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379347" y="8203070"/>
            <a:ext cx="104676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05 - C</a:t>
            </a:r>
            <a:r>
              <a:rPr lang="en-US" sz="8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ONCLUSION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379347" y="10016494"/>
            <a:ext cx="10467525" cy="1327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03 - OUR PROJECTS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4D44A6"/>
            </a:gs>
            <a:gs pos="33333">
              <a:srgbClr val="4D44A6"/>
            </a:gs>
            <a:gs pos="66667">
              <a:srgbClr val="000000"/>
            </a:gs>
            <a:gs pos="100000">
              <a:srgbClr val="00000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6" name="Google Shape;116;p15"/>
          <p:cNvCxnSpPr/>
          <p:nvPr/>
        </p:nvCxnSpPr>
        <p:spPr>
          <a:xfrm>
            <a:off x="381741" y="607341"/>
            <a:ext cx="17526912" cy="0"/>
          </a:xfrm>
          <a:prstGeom prst="straightConnector1">
            <a:avLst/>
          </a:prstGeom>
          <a:noFill/>
          <a:ln w="38100" cap="flat" cmpd="sng">
            <a:solidFill>
              <a:srgbClr val="FFFFFF">
                <a:alpha val="35294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7" name="Google Shape;117;p15"/>
          <p:cNvSpPr txBox="1"/>
          <p:nvPr/>
        </p:nvSpPr>
        <p:spPr>
          <a:xfrm>
            <a:off x="2136496" y="4067175"/>
            <a:ext cx="12186209" cy="199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0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INTRODUCTION</a:t>
            </a:r>
            <a:endParaRPr/>
          </a:p>
        </p:txBody>
      </p:sp>
      <p:grpSp>
        <p:nvGrpSpPr>
          <p:cNvPr id="118" name="Google Shape;118;p15"/>
          <p:cNvGrpSpPr/>
          <p:nvPr/>
        </p:nvGrpSpPr>
        <p:grpSpPr>
          <a:xfrm>
            <a:off x="14322704" y="4229100"/>
            <a:ext cx="1828800" cy="1828800"/>
            <a:chOff x="0" y="0"/>
            <a:chExt cx="2438400" cy="2438400"/>
          </a:xfrm>
        </p:grpSpPr>
        <p:grpSp>
          <p:nvGrpSpPr>
            <p:cNvPr id="119" name="Google Shape;119;p15"/>
            <p:cNvGrpSpPr/>
            <p:nvPr/>
          </p:nvGrpSpPr>
          <p:grpSpPr>
            <a:xfrm>
              <a:off x="0" y="0"/>
              <a:ext cx="2438400" cy="2438400"/>
              <a:chOff x="0" y="0"/>
              <a:chExt cx="812800" cy="812800"/>
            </a:xfrm>
          </p:grpSpPr>
          <p:sp>
            <p:nvSpPr>
              <p:cNvPr id="120" name="Google Shape;120;p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15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22" name="Google Shape;122;p15"/>
            <p:cNvCxnSpPr/>
            <p:nvPr/>
          </p:nvCxnSpPr>
          <p:spPr>
            <a:xfrm>
              <a:off x="296303" y="1226772"/>
              <a:ext cx="1719376" cy="0"/>
            </a:xfrm>
            <a:prstGeom prst="straightConnector1">
              <a:avLst/>
            </a:prstGeom>
            <a:noFill/>
            <a:ln w="139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3" name="Google Shape;123;p15"/>
            <p:cNvCxnSpPr/>
            <p:nvPr/>
          </p:nvCxnSpPr>
          <p:spPr>
            <a:xfrm rot="10800000" flipH="1">
              <a:off x="1429320" y="1171742"/>
              <a:ext cx="663386" cy="663386"/>
            </a:xfrm>
            <a:prstGeom prst="straightConnector1">
              <a:avLst/>
            </a:prstGeom>
            <a:noFill/>
            <a:ln w="139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4" name="Google Shape;124;p15"/>
            <p:cNvCxnSpPr/>
            <p:nvPr/>
          </p:nvCxnSpPr>
          <p:spPr>
            <a:xfrm rot="10800000">
              <a:off x="1429320" y="603272"/>
              <a:ext cx="663386" cy="663386"/>
            </a:xfrm>
            <a:prstGeom prst="straightConnector1">
              <a:avLst/>
            </a:prstGeom>
            <a:noFill/>
            <a:ln w="139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125" name="Google Shape;12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7351" y="464475"/>
            <a:ext cx="18955718" cy="857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381746" y="162975"/>
            <a:ext cx="1620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Fall 2025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16828350" y="162975"/>
            <a:ext cx="1080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CS 329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00"/>
            </a:gs>
            <a:gs pos="50000">
              <a:srgbClr val="000000"/>
            </a:gs>
            <a:gs pos="100000">
              <a:srgbClr val="4D44A6"/>
            </a:gs>
          </a:gsLst>
          <a:lin ang="5400012" scaled="0"/>
        </a:gra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Google Shape;132;p16"/>
          <p:cNvCxnSpPr/>
          <p:nvPr/>
        </p:nvCxnSpPr>
        <p:spPr>
          <a:xfrm>
            <a:off x="381741" y="607341"/>
            <a:ext cx="17526900" cy="0"/>
          </a:xfrm>
          <a:prstGeom prst="straightConnector1">
            <a:avLst/>
          </a:prstGeom>
          <a:noFill/>
          <a:ln w="38100" cap="flat" cmpd="sng">
            <a:solidFill>
              <a:srgbClr val="FFFFFF">
                <a:alpha val="3529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3" name="Google Shape;133;p16"/>
          <p:cNvSpPr txBox="1"/>
          <p:nvPr/>
        </p:nvSpPr>
        <p:spPr>
          <a:xfrm>
            <a:off x="381748" y="627069"/>
            <a:ext cx="10099200" cy="8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3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Dataset Introduction</a:t>
            </a:r>
            <a:endParaRPr sz="700"/>
          </a:p>
        </p:txBody>
      </p:sp>
      <p:sp>
        <p:nvSpPr>
          <p:cNvPr id="134" name="Google Shape;134;p16"/>
          <p:cNvSpPr txBox="1"/>
          <p:nvPr/>
        </p:nvSpPr>
        <p:spPr>
          <a:xfrm>
            <a:off x="10726655" y="1767106"/>
            <a:ext cx="6101700" cy="15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lt1"/>
                </a:solidFill>
              </a:rPr>
              <a:t>The dataset is collated from Spotify's API using two separate python scripts to extract popular and non-popular songs and their associated audio and descriptive features. </a:t>
            </a:r>
            <a:endParaRPr sz="1700"/>
          </a:p>
        </p:txBody>
      </p:sp>
      <p:pic>
        <p:nvPicPr>
          <p:cNvPr id="135" name="Google Shape;13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922" y="1648888"/>
            <a:ext cx="9811576" cy="6989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/>
          <p:cNvPicPr preferRelativeResize="0"/>
          <p:nvPr/>
        </p:nvPicPr>
        <p:blipFill rotWithShape="1">
          <a:blip r:embed="rId4">
            <a:alphaModFix/>
          </a:blip>
          <a:srcRect l="200" r="-199"/>
          <a:stretch/>
        </p:blipFill>
        <p:spPr>
          <a:xfrm>
            <a:off x="302922" y="8530324"/>
            <a:ext cx="9811574" cy="1136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303350" y="3756662"/>
            <a:ext cx="7807050" cy="60967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381741" y="138711"/>
            <a:ext cx="2669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Fall 2025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16828350" y="138688"/>
            <a:ext cx="1080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CS 329</a:t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8887800" y="768425"/>
            <a:ext cx="3705000" cy="719400"/>
          </a:xfrm>
          <a:prstGeom prst="roundRect">
            <a:avLst>
              <a:gd name="adj" fmla="val 16667"/>
            </a:avLst>
          </a:prstGeom>
          <a:solidFill>
            <a:srgbClr val="B4A7D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 u="sng">
                <a:solidFill>
                  <a:schemeClr val="hlink"/>
                </a:solidFill>
                <a:hlinkClick r:id="rId6"/>
              </a:rPr>
              <a:t>Spotify Dataset in Kaggle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00"/>
            </a:gs>
            <a:gs pos="50000">
              <a:srgbClr val="000000"/>
            </a:gs>
            <a:gs pos="100000">
              <a:srgbClr val="4D44A6"/>
            </a:gs>
          </a:gsLst>
          <a:lin ang="5400012" scaled="0"/>
        </a:gra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5" name="Google Shape;145;p17"/>
          <p:cNvCxnSpPr/>
          <p:nvPr/>
        </p:nvCxnSpPr>
        <p:spPr>
          <a:xfrm>
            <a:off x="381741" y="607341"/>
            <a:ext cx="17526900" cy="0"/>
          </a:xfrm>
          <a:prstGeom prst="straightConnector1">
            <a:avLst/>
          </a:prstGeom>
          <a:noFill/>
          <a:ln w="38100" cap="flat" cmpd="sng">
            <a:solidFill>
              <a:srgbClr val="FFFFFF">
                <a:alpha val="3529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6" name="Google Shape;146;p17"/>
          <p:cNvSpPr txBox="1"/>
          <p:nvPr/>
        </p:nvSpPr>
        <p:spPr>
          <a:xfrm>
            <a:off x="593130" y="8831106"/>
            <a:ext cx="6101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593123" y="922662"/>
            <a:ext cx="10099200" cy="9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Project Question</a:t>
            </a:r>
            <a:endParaRPr sz="1200"/>
          </a:p>
        </p:txBody>
      </p:sp>
      <p:sp>
        <p:nvSpPr>
          <p:cNvPr id="148" name="Google Shape;148;p17"/>
          <p:cNvSpPr txBox="1"/>
          <p:nvPr/>
        </p:nvSpPr>
        <p:spPr>
          <a:xfrm>
            <a:off x="2936350" y="3211400"/>
            <a:ext cx="11981700" cy="28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1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What features are determinant for predicting track popularity of a song?</a:t>
            </a:r>
            <a:endParaRPr sz="5600" b="1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49" name="Google Shape;149;p17"/>
          <p:cNvSpPr txBox="1"/>
          <p:nvPr/>
        </p:nvSpPr>
        <p:spPr>
          <a:xfrm>
            <a:off x="381741" y="138711"/>
            <a:ext cx="2669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Fall 2025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16828350" y="138688"/>
            <a:ext cx="1080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CS 329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00"/>
            </a:gs>
            <a:gs pos="50000">
              <a:srgbClr val="000000"/>
            </a:gs>
            <a:gs pos="100000">
              <a:srgbClr val="4D44A6"/>
            </a:gs>
          </a:gsLst>
          <a:lin ang="5400012" scaled="0"/>
        </a:gra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5" name="Google Shape;155;p18"/>
          <p:cNvCxnSpPr/>
          <p:nvPr/>
        </p:nvCxnSpPr>
        <p:spPr>
          <a:xfrm>
            <a:off x="381741" y="607341"/>
            <a:ext cx="17526900" cy="0"/>
          </a:xfrm>
          <a:prstGeom prst="straightConnector1">
            <a:avLst/>
          </a:prstGeom>
          <a:noFill/>
          <a:ln w="38100" cap="flat" cmpd="sng">
            <a:solidFill>
              <a:srgbClr val="FFFFFF">
                <a:alpha val="3529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6" name="Google Shape;156;p18"/>
          <p:cNvSpPr txBox="1"/>
          <p:nvPr/>
        </p:nvSpPr>
        <p:spPr>
          <a:xfrm>
            <a:off x="593130" y="8831106"/>
            <a:ext cx="6101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593123" y="922662"/>
            <a:ext cx="10099200" cy="9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Our expectation</a:t>
            </a:r>
            <a:endParaRPr sz="1200"/>
          </a:p>
        </p:txBody>
      </p:sp>
      <p:sp>
        <p:nvSpPr>
          <p:cNvPr id="158" name="Google Shape;158;p18"/>
          <p:cNvSpPr txBox="1"/>
          <p:nvPr/>
        </p:nvSpPr>
        <p:spPr>
          <a:xfrm>
            <a:off x="2936350" y="3211400"/>
            <a:ext cx="11981700" cy="28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1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We do expect genre and artist to be influential for music popularity prediction, but we do not expect the regression after feature selection to work well (R squared&gt;0.8) because music popularity is hard to predict.</a:t>
            </a:r>
            <a:endParaRPr sz="3800" b="1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59" name="Google Shape;159;p18"/>
          <p:cNvSpPr txBox="1"/>
          <p:nvPr/>
        </p:nvSpPr>
        <p:spPr>
          <a:xfrm>
            <a:off x="381741" y="138711"/>
            <a:ext cx="2669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Fall 2025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16828350" y="138688"/>
            <a:ext cx="1080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CS 329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4D44A6"/>
            </a:gs>
            <a:gs pos="33329">
              <a:srgbClr val="4D44A6"/>
            </a:gs>
            <a:gs pos="66670">
              <a:srgbClr val="000000"/>
            </a:gs>
            <a:gs pos="100000">
              <a:srgbClr val="00000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5" name="Google Shape;165;p19"/>
          <p:cNvCxnSpPr/>
          <p:nvPr/>
        </p:nvCxnSpPr>
        <p:spPr>
          <a:xfrm>
            <a:off x="381741" y="607341"/>
            <a:ext cx="17526900" cy="0"/>
          </a:xfrm>
          <a:prstGeom prst="straightConnector1">
            <a:avLst/>
          </a:prstGeom>
          <a:noFill/>
          <a:ln w="38100" cap="flat" cmpd="sng">
            <a:solidFill>
              <a:srgbClr val="FFFFFF">
                <a:alpha val="3529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6" name="Google Shape;166;p19"/>
          <p:cNvSpPr txBox="1"/>
          <p:nvPr/>
        </p:nvSpPr>
        <p:spPr>
          <a:xfrm>
            <a:off x="2136396" y="3429000"/>
            <a:ext cx="12186300" cy="42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VISUALIZE THE DATA</a:t>
            </a:r>
            <a:endParaRPr/>
          </a:p>
        </p:txBody>
      </p:sp>
      <p:grpSp>
        <p:nvGrpSpPr>
          <p:cNvPr id="167" name="Google Shape;167;p19"/>
          <p:cNvGrpSpPr/>
          <p:nvPr/>
        </p:nvGrpSpPr>
        <p:grpSpPr>
          <a:xfrm>
            <a:off x="14322704" y="4229100"/>
            <a:ext cx="1828800" cy="1828800"/>
            <a:chOff x="0" y="0"/>
            <a:chExt cx="2438400" cy="2438400"/>
          </a:xfrm>
        </p:grpSpPr>
        <p:grpSp>
          <p:nvGrpSpPr>
            <p:cNvPr id="168" name="Google Shape;168;p19"/>
            <p:cNvGrpSpPr/>
            <p:nvPr/>
          </p:nvGrpSpPr>
          <p:grpSpPr>
            <a:xfrm>
              <a:off x="0" y="0"/>
              <a:ext cx="2438400" cy="2438400"/>
              <a:chOff x="0" y="0"/>
              <a:chExt cx="812800" cy="812800"/>
            </a:xfrm>
          </p:grpSpPr>
          <p:sp>
            <p:nvSpPr>
              <p:cNvPr id="169" name="Google Shape;169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19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71" name="Google Shape;171;p19"/>
            <p:cNvCxnSpPr/>
            <p:nvPr/>
          </p:nvCxnSpPr>
          <p:spPr>
            <a:xfrm>
              <a:off x="296303" y="1226772"/>
              <a:ext cx="1719300" cy="0"/>
            </a:xfrm>
            <a:prstGeom prst="straightConnector1">
              <a:avLst/>
            </a:prstGeom>
            <a:noFill/>
            <a:ln w="139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2" name="Google Shape;172;p19"/>
            <p:cNvCxnSpPr/>
            <p:nvPr/>
          </p:nvCxnSpPr>
          <p:spPr>
            <a:xfrm rot="10800000" flipH="1">
              <a:off x="1429320" y="1171828"/>
              <a:ext cx="663300" cy="663300"/>
            </a:xfrm>
            <a:prstGeom prst="straightConnector1">
              <a:avLst/>
            </a:prstGeom>
            <a:noFill/>
            <a:ln w="139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3" name="Google Shape;173;p19"/>
            <p:cNvCxnSpPr/>
            <p:nvPr/>
          </p:nvCxnSpPr>
          <p:spPr>
            <a:xfrm rot="10800000">
              <a:off x="1429406" y="603358"/>
              <a:ext cx="663300" cy="663300"/>
            </a:xfrm>
            <a:prstGeom prst="straightConnector1">
              <a:avLst/>
            </a:prstGeom>
            <a:noFill/>
            <a:ln w="139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174" name="Google Shape;17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90425" y="873350"/>
            <a:ext cx="18858878" cy="8535787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381741" y="138711"/>
            <a:ext cx="2669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Fall 2025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16828350" y="138688"/>
            <a:ext cx="1080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CS 329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4D44A6"/>
            </a:gs>
            <a:gs pos="50000">
              <a:srgbClr val="000000"/>
            </a:gs>
            <a:gs pos="100000">
              <a:srgbClr val="000000"/>
            </a:gs>
          </a:gsLst>
          <a:lin ang="5400012" scaled="0"/>
        </a:gra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1" name="Google Shape;181;p20"/>
          <p:cNvCxnSpPr/>
          <p:nvPr/>
        </p:nvCxnSpPr>
        <p:spPr>
          <a:xfrm>
            <a:off x="381741" y="607341"/>
            <a:ext cx="17526900" cy="0"/>
          </a:xfrm>
          <a:prstGeom prst="straightConnector1">
            <a:avLst/>
          </a:prstGeom>
          <a:noFill/>
          <a:ln w="38100" cap="flat" cmpd="sng">
            <a:solidFill>
              <a:srgbClr val="FFFFFF">
                <a:alpha val="3529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2" name="Google Shape;182;p20"/>
          <p:cNvSpPr txBox="1"/>
          <p:nvPr/>
        </p:nvSpPr>
        <p:spPr>
          <a:xfrm>
            <a:off x="5345102" y="741263"/>
            <a:ext cx="76002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Data Distribution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381741" y="138711"/>
            <a:ext cx="2669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Fall 2025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16828350" y="138688"/>
            <a:ext cx="1080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CS 329</a:t>
            </a:r>
            <a:endParaRPr/>
          </a:p>
        </p:txBody>
      </p:sp>
      <p:pic>
        <p:nvPicPr>
          <p:cNvPr id="185" name="Google Shape;185;p20" title="violin_pl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525" y="2106675"/>
            <a:ext cx="17526899" cy="77897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4D44A6"/>
            </a:gs>
            <a:gs pos="50000">
              <a:srgbClr val="000000"/>
            </a:gs>
            <a:gs pos="100000">
              <a:srgbClr val="000000"/>
            </a:gs>
          </a:gsLst>
          <a:lin ang="5400012" scaled="0"/>
        </a:gra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0" name="Google Shape;190;p21"/>
          <p:cNvCxnSpPr/>
          <p:nvPr/>
        </p:nvCxnSpPr>
        <p:spPr>
          <a:xfrm>
            <a:off x="381741" y="607341"/>
            <a:ext cx="17526900" cy="0"/>
          </a:xfrm>
          <a:prstGeom prst="straightConnector1">
            <a:avLst/>
          </a:prstGeom>
          <a:noFill/>
          <a:ln w="38100" cap="flat" cmpd="sng">
            <a:solidFill>
              <a:srgbClr val="FFFFFF">
                <a:alpha val="3529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1" name="Google Shape;191;p21"/>
          <p:cNvSpPr txBox="1"/>
          <p:nvPr/>
        </p:nvSpPr>
        <p:spPr>
          <a:xfrm>
            <a:off x="5243850" y="576050"/>
            <a:ext cx="7800300" cy="11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3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Data Distribution</a:t>
            </a:r>
            <a:endParaRPr sz="700"/>
          </a:p>
        </p:txBody>
      </p:sp>
      <p:sp>
        <p:nvSpPr>
          <p:cNvPr id="192" name="Google Shape;192;p21"/>
          <p:cNvSpPr txBox="1"/>
          <p:nvPr/>
        </p:nvSpPr>
        <p:spPr>
          <a:xfrm>
            <a:off x="381741" y="138711"/>
            <a:ext cx="2669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Fall 2025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16828350" y="138688"/>
            <a:ext cx="1080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CS 329</a:t>
            </a:r>
            <a:endParaRPr/>
          </a:p>
        </p:txBody>
      </p:sp>
      <p:pic>
        <p:nvPicPr>
          <p:cNvPr id="194" name="Google Shape;19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663" y="2727537"/>
            <a:ext cx="7686675" cy="458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67738" y="2541691"/>
            <a:ext cx="9172575" cy="481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4D44A6"/>
            </a:gs>
            <a:gs pos="50000">
              <a:srgbClr val="000000"/>
            </a:gs>
            <a:gs pos="100000">
              <a:srgbClr val="000000"/>
            </a:gs>
          </a:gsLst>
          <a:lin ang="5400012" scaled="0"/>
        </a:gra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0" name="Google Shape;200;p22"/>
          <p:cNvCxnSpPr/>
          <p:nvPr/>
        </p:nvCxnSpPr>
        <p:spPr>
          <a:xfrm>
            <a:off x="381741" y="607341"/>
            <a:ext cx="17526900" cy="0"/>
          </a:xfrm>
          <a:prstGeom prst="straightConnector1">
            <a:avLst/>
          </a:prstGeom>
          <a:noFill/>
          <a:ln w="38100" cap="flat" cmpd="sng">
            <a:solidFill>
              <a:srgbClr val="FFFFFF">
                <a:alpha val="3529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1" name="Google Shape;201;p22"/>
          <p:cNvSpPr txBox="1"/>
          <p:nvPr/>
        </p:nvSpPr>
        <p:spPr>
          <a:xfrm>
            <a:off x="5243850" y="576050"/>
            <a:ext cx="7800300" cy="11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3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Feature VS Target</a:t>
            </a:r>
            <a:endParaRPr sz="700"/>
          </a:p>
        </p:txBody>
      </p:sp>
      <p:pic>
        <p:nvPicPr>
          <p:cNvPr id="202" name="Google Shape;202;p22" title="acousti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48825" y="1871937"/>
            <a:ext cx="5177325" cy="3882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2" title="danc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48837" y="5951900"/>
            <a:ext cx="5177275" cy="38829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2" title="energy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4262" y="1871900"/>
            <a:ext cx="5177325" cy="3883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2" title="instrumentalness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56563" y="5951899"/>
            <a:ext cx="5177291" cy="388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2" title="loudness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4270" y="5951896"/>
            <a:ext cx="5177323" cy="3882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2" title="tempo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56550" y="1871912"/>
            <a:ext cx="5177325" cy="3883026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2"/>
          <p:cNvSpPr txBox="1"/>
          <p:nvPr/>
        </p:nvSpPr>
        <p:spPr>
          <a:xfrm>
            <a:off x="381741" y="138711"/>
            <a:ext cx="2669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Fall 2025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16828350" y="138688"/>
            <a:ext cx="1080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CS 329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4D44A6"/>
            </a:gs>
            <a:gs pos="33329">
              <a:srgbClr val="4D44A6"/>
            </a:gs>
            <a:gs pos="66670">
              <a:srgbClr val="000000"/>
            </a:gs>
            <a:gs pos="100000">
              <a:srgbClr val="00000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4" name="Google Shape;214;p23"/>
          <p:cNvCxnSpPr/>
          <p:nvPr/>
        </p:nvCxnSpPr>
        <p:spPr>
          <a:xfrm>
            <a:off x="381741" y="607341"/>
            <a:ext cx="17526900" cy="0"/>
          </a:xfrm>
          <a:prstGeom prst="straightConnector1">
            <a:avLst/>
          </a:prstGeom>
          <a:noFill/>
          <a:ln w="38100" cap="flat" cmpd="sng">
            <a:solidFill>
              <a:srgbClr val="FFFFFF">
                <a:alpha val="3529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5" name="Google Shape;215;p23"/>
          <p:cNvSpPr txBox="1"/>
          <p:nvPr/>
        </p:nvSpPr>
        <p:spPr>
          <a:xfrm>
            <a:off x="2136496" y="4067175"/>
            <a:ext cx="121863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METHOD</a:t>
            </a:r>
            <a:endParaRPr sz="120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216" name="Google Shape;216;p23"/>
          <p:cNvGrpSpPr/>
          <p:nvPr/>
        </p:nvGrpSpPr>
        <p:grpSpPr>
          <a:xfrm>
            <a:off x="14322704" y="4229100"/>
            <a:ext cx="1828800" cy="1828800"/>
            <a:chOff x="0" y="0"/>
            <a:chExt cx="2438400" cy="2438400"/>
          </a:xfrm>
        </p:grpSpPr>
        <p:grpSp>
          <p:nvGrpSpPr>
            <p:cNvPr id="217" name="Google Shape;217;p23"/>
            <p:cNvGrpSpPr/>
            <p:nvPr/>
          </p:nvGrpSpPr>
          <p:grpSpPr>
            <a:xfrm>
              <a:off x="0" y="0"/>
              <a:ext cx="2438400" cy="2438400"/>
              <a:chOff x="0" y="0"/>
              <a:chExt cx="812800" cy="812800"/>
            </a:xfrm>
          </p:grpSpPr>
          <p:sp>
            <p:nvSpPr>
              <p:cNvPr id="218" name="Google Shape;218;p2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23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220" name="Google Shape;220;p23"/>
            <p:cNvCxnSpPr/>
            <p:nvPr/>
          </p:nvCxnSpPr>
          <p:spPr>
            <a:xfrm>
              <a:off x="296303" y="1226772"/>
              <a:ext cx="1719300" cy="0"/>
            </a:xfrm>
            <a:prstGeom prst="straightConnector1">
              <a:avLst/>
            </a:prstGeom>
            <a:noFill/>
            <a:ln w="139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1" name="Google Shape;221;p23"/>
            <p:cNvCxnSpPr/>
            <p:nvPr/>
          </p:nvCxnSpPr>
          <p:spPr>
            <a:xfrm rot="10800000" flipH="1">
              <a:off x="1429320" y="1171828"/>
              <a:ext cx="663300" cy="663300"/>
            </a:xfrm>
            <a:prstGeom prst="straightConnector1">
              <a:avLst/>
            </a:prstGeom>
            <a:noFill/>
            <a:ln w="139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2" name="Google Shape;222;p23"/>
            <p:cNvCxnSpPr/>
            <p:nvPr/>
          </p:nvCxnSpPr>
          <p:spPr>
            <a:xfrm rot="10800000">
              <a:off x="1429406" y="603358"/>
              <a:ext cx="663300" cy="663300"/>
            </a:xfrm>
            <a:prstGeom prst="straightConnector1">
              <a:avLst/>
            </a:prstGeom>
            <a:noFill/>
            <a:ln w="139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223" name="Google Shape;22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81439" y="1006100"/>
            <a:ext cx="18955678" cy="857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3"/>
          <p:cNvSpPr txBox="1"/>
          <p:nvPr/>
        </p:nvSpPr>
        <p:spPr>
          <a:xfrm>
            <a:off x="381741" y="138711"/>
            <a:ext cx="2669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Fall 2025</a:t>
            </a:r>
            <a:endParaRPr/>
          </a:p>
        </p:txBody>
      </p:sp>
      <p:sp>
        <p:nvSpPr>
          <p:cNvPr id="225" name="Google Shape;225;p23"/>
          <p:cNvSpPr txBox="1"/>
          <p:nvPr/>
        </p:nvSpPr>
        <p:spPr>
          <a:xfrm>
            <a:off x="16828350" y="138688"/>
            <a:ext cx="1080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CS 329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4D44A6"/>
            </a:gs>
            <a:gs pos="50000">
              <a:srgbClr val="000000"/>
            </a:gs>
            <a:gs pos="100000">
              <a:srgbClr val="000000"/>
            </a:gs>
          </a:gsLst>
          <a:lin ang="0" scaled="0"/>
        </a:gra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715" y="5933176"/>
            <a:ext cx="3693451" cy="370615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1" name="Google Shape;231;p24"/>
          <p:cNvCxnSpPr/>
          <p:nvPr/>
        </p:nvCxnSpPr>
        <p:spPr>
          <a:xfrm>
            <a:off x="381741" y="607341"/>
            <a:ext cx="17526900" cy="0"/>
          </a:xfrm>
          <a:prstGeom prst="straightConnector1">
            <a:avLst/>
          </a:prstGeom>
          <a:noFill/>
          <a:ln w="38100" cap="flat" cmpd="sng">
            <a:solidFill>
              <a:srgbClr val="FFFFFF">
                <a:alpha val="3529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2" name="Google Shape;232;p24"/>
          <p:cNvSpPr txBox="1"/>
          <p:nvPr/>
        </p:nvSpPr>
        <p:spPr>
          <a:xfrm>
            <a:off x="657638" y="1648918"/>
            <a:ext cx="129015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Mutual_info_regression</a:t>
            </a:r>
            <a:endParaRPr/>
          </a:p>
        </p:txBody>
      </p:sp>
      <p:sp>
        <p:nvSpPr>
          <p:cNvPr id="233" name="Google Shape;233;p24"/>
          <p:cNvSpPr txBox="1"/>
          <p:nvPr/>
        </p:nvSpPr>
        <p:spPr>
          <a:xfrm>
            <a:off x="795595" y="2991993"/>
            <a:ext cx="12901500" cy="27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mo"/>
              <a:buAutoNum type="arabicPeriod"/>
            </a:pPr>
            <a:r>
              <a:rPr lang="en-US" sz="23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Mutual information (MI) measure how much information one variable provides about another: for a feature X and target Y, MI quantifies the reduction in uncertainty of Y given X</a:t>
            </a:r>
            <a:endParaRPr sz="23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57200" marR="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mo"/>
              <a:buAutoNum type="arabicPeriod"/>
            </a:pPr>
            <a:r>
              <a:rPr lang="en-US" sz="23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Model-agnostic: does not assume a specific model, so is useful for preprocessing before modeling</a:t>
            </a:r>
            <a:endParaRPr sz="23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57200" marR="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mo"/>
              <a:buAutoNum type="arabicPeriod"/>
            </a:pPr>
            <a:r>
              <a:rPr lang="en-US" sz="23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Is able to detect non-linear relationships between features and target</a:t>
            </a:r>
            <a:endParaRPr sz="23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57200" marR="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mo"/>
              <a:buAutoNum type="arabicPeriod"/>
            </a:pPr>
            <a:r>
              <a:rPr lang="en-US" sz="23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Robust to monotonic transformations</a:t>
            </a:r>
            <a:endParaRPr sz="23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57200" marR="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mo"/>
              <a:buAutoNum type="arabicPeriod"/>
            </a:pPr>
            <a:r>
              <a:rPr lang="en-US" sz="23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Downside is it looks at each feature independently, ignoring feature interactions</a:t>
            </a:r>
            <a:endParaRPr sz="23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34" name="Google Shape;234;p24"/>
          <p:cNvSpPr txBox="1"/>
          <p:nvPr/>
        </p:nvSpPr>
        <p:spPr>
          <a:xfrm>
            <a:off x="381741" y="138711"/>
            <a:ext cx="2669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Fall 2025</a:t>
            </a:r>
            <a:endParaRPr/>
          </a:p>
        </p:txBody>
      </p:sp>
      <p:sp>
        <p:nvSpPr>
          <p:cNvPr id="235" name="Google Shape;235;p24"/>
          <p:cNvSpPr txBox="1"/>
          <p:nvPr/>
        </p:nvSpPr>
        <p:spPr>
          <a:xfrm>
            <a:off x="16828350" y="138688"/>
            <a:ext cx="1080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CS 329</a:t>
            </a:r>
            <a:endParaRPr/>
          </a:p>
        </p:txBody>
      </p:sp>
      <p:pic>
        <p:nvPicPr>
          <p:cNvPr id="236" name="Google Shape;23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05875" y="3925600"/>
            <a:ext cx="4322225" cy="581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4D44A6"/>
            </a:gs>
            <a:gs pos="50000">
              <a:srgbClr val="000000"/>
            </a:gs>
            <a:gs pos="100000">
              <a:srgbClr val="00000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1" name="Google Shape;241;p25"/>
          <p:cNvCxnSpPr/>
          <p:nvPr/>
        </p:nvCxnSpPr>
        <p:spPr>
          <a:xfrm>
            <a:off x="381741" y="607341"/>
            <a:ext cx="17526900" cy="0"/>
          </a:xfrm>
          <a:prstGeom prst="straightConnector1">
            <a:avLst/>
          </a:prstGeom>
          <a:noFill/>
          <a:ln w="38100" cap="flat" cmpd="sng">
            <a:solidFill>
              <a:srgbClr val="FFFFFF">
                <a:alpha val="3529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2" name="Google Shape;242;p25"/>
          <p:cNvSpPr txBox="1"/>
          <p:nvPr/>
        </p:nvSpPr>
        <p:spPr>
          <a:xfrm>
            <a:off x="670052" y="2993475"/>
            <a:ext cx="16272900" cy="11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5029200" lvl="0" indent="4572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Extra Trees Regressor</a:t>
            </a:r>
            <a:endParaRPr sz="80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43" name="Google Shape;243;p25"/>
          <p:cNvSpPr txBox="1"/>
          <p:nvPr/>
        </p:nvSpPr>
        <p:spPr>
          <a:xfrm>
            <a:off x="1966169" y="1624476"/>
            <a:ext cx="129015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mo"/>
              <a:buAutoNum type="arabicPeriod"/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Extra Trees is an ensemble method similar to Random Forest, but with more randomness</a:t>
            </a:r>
            <a:endParaRPr sz="21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mo"/>
              <a:buAutoNum type="arabicPeriod"/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Chooses random split among a random subset of features, resulting in lower variance</a:t>
            </a:r>
            <a:endParaRPr sz="21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mo"/>
              <a:buAutoNum type="arabicPeriod"/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More suitable for noisy dataset and high-dimensional data</a:t>
            </a:r>
            <a:endParaRPr sz="21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244" name="Google Shape;24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49500" y="5758700"/>
            <a:ext cx="3693451" cy="3693451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5"/>
          <p:cNvSpPr txBox="1"/>
          <p:nvPr/>
        </p:nvSpPr>
        <p:spPr>
          <a:xfrm>
            <a:off x="381741" y="138711"/>
            <a:ext cx="2669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Fall 2025</a:t>
            </a:r>
            <a:endParaRPr/>
          </a:p>
        </p:txBody>
      </p:sp>
      <p:sp>
        <p:nvSpPr>
          <p:cNvPr id="246" name="Google Shape;246;p25"/>
          <p:cNvSpPr txBox="1"/>
          <p:nvPr/>
        </p:nvSpPr>
        <p:spPr>
          <a:xfrm>
            <a:off x="16828350" y="138688"/>
            <a:ext cx="1080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CS 329</a:t>
            </a:r>
            <a:endParaRPr/>
          </a:p>
        </p:txBody>
      </p:sp>
      <p:pic>
        <p:nvPicPr>
          <p:cNvPr id="247" name="Google Shape;24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1588" y="4453086"/>
            <a:ext cx="6920830" cy="4967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00"/>
            </a:gs>
            <a:gs pos="50000">
              <a:srgbClr val="000000"/>
            </a:gs>
            <a:gs pos="100000">
              <a:srgbClr val="4D44A6"/>
            </a:gs>
          </a:gsLst>
          <a:lin ang="5400012" scaled="0"/>
        </a:gra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2" name="Google Shape;252;p26"/>
          <p:cNvCxnSpPr/>
          <p:nvPr/>
        </p:nvCxnSpPr>
        <p:spPr>
          <a:xfrm>
            <a:off x="381741" y="607341"/>
            <a:ext cx="17526900" cy="0"/>
          </a:xfrm>
          <a:prstGeom prst="straightConnector1">
            <a:avLst/>
          </a:prstGeom>
          <a:noFill/>
          <a:ln w="38100" cap="flat" cmpd="sng">
            <a:solidFill>
              <a:srgbClr val="FFFFFF">
                <a:alpha val="3529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3" name="Google Shape;253;p26"/>
          <p:cNvSpPr txBox="1"/>
          <p:nvPr/>
        </p:nvSpPr>
        <p:spPr>
          <a:xfrm>
            <a:off x="381741" y="990600"/>
            <a:ext cx="175269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PROCESS</a:t>
            </a:r>
            <a:endParaRPr/>
          </a:p>
        </p:txBody>
      </p:sp>
      <p:sp>
        <p:nvSpPr>
          <p:cNvPr id="254" name="Google Shape;254;p26"/>
          <p:cNvSpPr txBox="1"/>
          <p:nvPr/>
        </p:nvSpPr>
        <p:spPr>
          <a:xfrm>
            <a:off x="426600" y="3830975"/>
            <a:ext cx="54837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Obtained the spotify dataset from Kaggle</a:t>
            </a:r>
            <a:endParaRPr sz="21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mo"/>
              <a:buChar char="-"/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high popularity</a:t>
            </a:r>
            <a:endParaRPr sz="21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mo"/>
              <a:buChar char="-"/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low popularity</a:t>
            </a:r>
            <a:endParaRPr sz="21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55" name="Google Shape;255;p26"/>
          <p:cNvSpPr txBox="1"/>
          <p:nvPr/>
        </p:nvSpPr>
        <p:spPr>
          <a:xfrm>
            <a:off x="597758" y="2781690"/>
            <a:ext cx="5141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mo"/>
              <a:buAutoNum type="arabicPeriod"/>
            </a:pPr>
            <a:r>
              <a:rPr lang="en-US" sz="3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Download dataset</a:t>
            </a:r>
            <a:endParaRPr/>
          </a:p>
        </p:txBody>
      </p:sp>
      <p:sp>
        <p:nvSpPr>
          <p:cNvPr id="256" name="Google Shape;256;p26"/>
          <p:cNvSpPr txBox="1"/>
          <p:nvPr/>
        </p:nvSpPr>
        <p:spPr>
          <a:xfrm>
            <a:off x="6704125" y="3830975"/>
            <a:ext cx="51414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Combined the datasets and cleaned it up</a:t>
            </a:r>
            <a:endParaRPr sz="21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mo"/>
              <a:buChar char="-"/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drop ‘na’ rows</a:t>
            </a:r>
            <a:endParaRPr sz="21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mo"/>
              <a:buChar char="-"/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drop unwanted columns like playlist name and album name</a:t>
            </a:r>
            <a:endParaRPr sz="21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mo"/>
              <a:buChar char="-"/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encode categorical columns</a:t>
            </a:r>
            <a:endParaRPr sz="21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57" name="Google Shape;257;p26"/>
          <p:cNvSpPr txBox="1"/>
          <p:nvPr/>
        </p:nvSpPr>
        <p:spPr>
          <a:xfrm>
            <a:off x="7319274" y="2781700"/>
            <a:ext cx="3911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2.  Data wrangling</a:t>
            </a:r>
            <a:endParaRPr/>
          </a:p>
        </p:txBody>
      </p:sp>
      <p:sp>
        <p:nvSpPr>
          <p:cNvPr id="258" name="Google Shape;258;p26"/>
          <p:cNvSpPr txBox="1"/>
          <p:nvPr/>
        </p:nvSpPr>
        <p:spPr>
          <a:xfrm>
            <a:off x="12872626" y="3849350"/>
            <a:ext cx="5141400" cy="14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lt1"/>
                </a:solidFill>
              </a:rPr>
              <a:t>Ran mutual_info_regression</a:t>
            </a:r>
            <a:endParaRPr sz="2100">
              <a:solidFill>
                <a:schemeClr val="lt1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-"/>
            </a:pPr>
            <a:r>
              <a:rPr lang="en-US" sz="2100">
                <a:solidFill>
                  <a:schemeClr val="lt1"/>
                </a:solidFill>
              </a:rPr>
              <a:t>playlist_genre, artist, loudness, energy, instrumentalness, acousticness, danceability, tempo</a:t>
            </a:r>
            <a:endParaRPr sz="2100">
              <a:solidFill>
                <a:schemeClr val="lt1"/>
              </a:solidFill>
            </a:endParaRPr>
          </a:p>
        </p:txBody>
      </p:sp>
      <p:sp>
        <p:nvSpPr>
          <p:cNvPr id="259" name="Google Shape;259;p26"/>
          <p:cNvSpPr txBox="1"/>
          <p:nvPr/>
        </p:nvSpPr>
        <p:spPr>
          <a:xfrm>
            <a:off x="13130473" y="2796800"/>
            <a:ext cx="4400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3.  Feature selection</a:t>
            </a:r>
            <a:endParaRPr/>
          </a:p>
        </p:txBody>
      </p:sp>
      <p:pic>
        <p:nvPicPr>
          <p:cNvPr id="260" name="Google Shape;26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121411"/>
            <a:ext cx="18288000" cy="415231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 txBox="1"/>
          <p:nvPr/>
        </p:nvSpPr>
        <p:spPr>
          <a:xfrm>
            <a:off x="4109700" y="6816675"/>
            <a:ext cx="36294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Visualize the dataset features</a:t>
            </a:r>
            <a:endParaRPr sz="21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mo"/>
              <a:buChar char="-"/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Violin plots</a:t>
            </a:r>
            <a:endParaRPr sz="21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mo"/>
              <a:buChar char="-"/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Scatter plots</a:t>
            </a:r>
            <a:endParaRPr sz="21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mo"/>
              <a:buChar char="-"/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Bar charts</a:t>
            </a:r>
            <a:endParaRPr sz="21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mo"/>
              <a:buChar char="-"/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Word cloud</a:t>
            </a:r>
            <a:endParaRPr sz="21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62" name="Google Shape;262;p26"/>
          <p:cNvSpPr txBox="1"/>
          <p:nvPr/>
        </p:nvSpPr>
        <p:spPr>
          <a:xfrm>
            <a:off x="4571997" y="5798800"/>
            <a:ext cx="2704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4.  Graphing</a:t>
            </a:r>
            <a:endParaRPr/>
          </a:p>
        </p:txBody>
      </p:sp>
      <p:sp>
        <p:nvSpPr>
          <p:cNvPr id="263" name="Google Shape;263;p26"/>
          <p:cNvSpPr txBox="1"/>
          <p:nvPr/>
        </p:nvSpPr>
        <p:spPr>
          <a:xfrm>
            <a:off x="10478525" y="6816675"/>
            <a:ext cx="37347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Ran ExtraTreesRegressor</a:t>
            </a:r>
            <a:endParaRPr sz="21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mo"/>
              <a:buChar char="-"/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plot the predictions and results</a:t>
            </a:r>
            <a:endParaRPr sz="21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64" name="Google Shape;264;p26"/>
          <p:cNvSpPr txBox="1"/>
          <p:nvPr/>
        </p:nvSpPr>
        <p:spPr>
          <a:xfrm>
            <a:off x="10758273" y="5798800"/>
            <a:ext cx="3175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5. Regression</a:t>
            </a:r>
            <a:endParaRPr/>
          </a:p>
        </p:txBody>
      </p:sp>
      <p:sp>
        <p:nvSpPr>
          <p:cNvPr id="265" name="Google Shape;265;p26"/>
          <p:cNvSpPr txBox="1"/>
          <p:nvPr/>
        </p:nvSpPr>
        <p:spPr>
          <a:xfrm>
            <a:off x="381741" y="138711"/>
            <a:ext cx="2669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Fall 2025</a:t>
            </a:r>
            <a:endParaRPr/>
          </a:p>
        </p:txBody>
      </p:sp>
      <p:sp>
        <p:nvSpPr>
          <p:cNvPr id="266" name="Google Shape;266;p26"/>
          <p:cNvSpPr txBox="1"/>
          <p:nvPr/>
        </p:nvSpPr>
        <p:spPr>
          <a:xfrm>
            <a:off x="16828350" y="138688"/>
            <a:ext cx="1080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CS 329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4D44A6"/>
            </a:gs>
            <a:gs pos="33329">
              <a:srgbClr val="4D44A6"/>
            </a:gs>
            <a:gs pos="66670">
              <a:srgbClr val="000000"/>
            </a:gs>
            <a:gs pos="100000">
              <a:srgbClr val="00000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33839" y="853700"/>
            <a:ext cx="18955678" cy="8579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2" name="Google Shape;272;p27"/>
          <p:cNvCxnSpPr/>
          <p:nvPr/>
        </p:nvCxnSpPr>
        <p:spPr>
          <a:xfrm>
            <a:off x="381741" y="607341"/>
            <a:ext cx="17526900" cy="0"/>
          </a:xfrm>
          <a:prstGeom prst="straightConnector1">
            <a:avLst/>
          </a:prstGeom>
          <a:noFill/>
          <a:ln w="38100" cap="flat" cmpd="sng">
            <a:solidFill>
              <a:srgbClr val="FFFFFF">
                <a:alpha val="3529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3" name="Google Shape;273;p27"/>
          <p:cNvSpPr txBox="1"/>
          <p:nvPr/>
        </p:nvSpPr>
        <p:spPr>
          <a:xfrm>
            <a:off x="3050896" y="4067175"/>
            <a:ext cx="121863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RESULTS</a:t>
            </a:r>
            <a:endParaRPr/>
          </a:p>
        </p:txBody>
      </p:sp>
      <p:grpSp>
        <p:nvGrpSpPr>
          <p:cNvPr id="274" name="Google Shape;274;p27"/>
          <p:cNvGrpSpPr/>
          <p:nvPr/>
        </p:nvGrpSpPr>
        <p:grpSpPr>
          <a:xfrm>
            <a:off x="14858424" y="3850316"/>
            <a:ext cx="2586289" cy="2586289"/>
            <a:chOff x="0" y="16"/>
            <a:chExt cx="3448385" cy="3448385"/>
          </a:xfrm>
        </p:grpSpPr>
        <p:grpSp>
          <p:nvGrpSpPr>
            <p:cNvPr id="275" name="Google Shape;275;p27"/>
            <p:cNvGrpSpPr/>
            <p:nvPr/>
          </p:nvGrpSpPr>
          <p:grpSpPr>
            <a:xfrm rot="-2700000">
              <a:off x="505004" y="505021"/>
              <a:ext cx="2438377" cy="2438377"/>
              <a:chOff x="0" y="0"/>
              <a:chExt cx="812800" cy="812800"/>
            </a:xfrm>
          </p:grpSpPr>
          <p:sp>
            <p:nvSpPr>
              <p:cNvPr id="276" name="Google Shape;276;p2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27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278" name="Google Shape;278;p27"/>
            <p:cNvCxnSpPr/>
            <p:nvPr/>
          </p:nvCxnSpPr>
          <p:spPr>
            <a:xfrm>
              <a:off x="801312" y="1731782"/>
              <a:ext cx="1719300" cy="0"/>
            </a:xfrm>
            <a:prstGeom prst="straightConnector1">
              <a:avLst/>
            </a:prstGeom>
            <a:noFill/>
            <a:ln w="139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9" name="Google Shape;279;p27"/>
            <p:cNvCxnSpPr/>
            <p:nvPr/>
          </p:nvCxnSpPr>
          <p:spPr>
            <a:xfrm rot="10800000" flipH="1">
              <a:off x="1934329" y="1676838"/>
              <a:ext cx="663300" cy="663300"/>
            </a:xfrm>
            <a:prstGeom prst="straightConnector1">
              <a:avLst/>
            </a:prstGeom>
            <a:noFill/>
            <a:ln w="139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0" name="Google Shape;280;p27"/>
            <p:cNvCxnSpPr/>
            <p:nvPr/>
          </p:nvCxnSpPr>
          <p:spPr>
            <a:xfrm rot="10800000">
              <a:off x="1934415" y="1108367"/>
              <a:ext cx="663300" cy="663300"/>
            </a:xfrm>
            <a:prstGeom prst="straightConnector1">
              <a:avLst/>
            </a:prstGeom>
            <a:noFill/>
            <a:ln w="139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81" name="Google Shape;281;p27"/>
          <p:cNvSpPr txBox="1"/>
          <p:nvPr/>
        </p:nvSpPr>
        <p:spPr>
          <a:xfrm>
            <a:off x="381741" y="138711"/>
            <a:ext cx="2669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Fall 2025</a:t>
            </a:r>
            <a:endParaRPr/>
          </a:p>
        </p:txBody>
      </p:sp>
      <p:sp>
        <p:nvSpPr>
          <p:cNvPr id="282" name="Google Shape;282;p27"/>
          <p:cNvSpPr txBox="1"/>
          <p:nvPr/>
        </p:nvSpPr>
        <p:spPr>
          <a:xfrm>
            <a:off x="16828350" y="138688"/>
            <a:ext cx="1080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CS 329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00"/>
            </a:gs>
            <a:gs pos="50000">
              <a:srgbClr val="000000"/>
            </a:gs>
            <a:gs pos="100000">
              <a:srgbClr val="4D44A6"/>
            </a:gs>
          </a:gsLst>
          <a:lin ang="5400012" scaled="0"/>
        </a:gra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7" name="Google Shape;287;p28"/>
          <p:cNvCxnSpPr/>
          <p:nvPr/>
        </p:nvCxnSpPr>
        <p:spPr>
          <a:xfrm>
            <a:off x="381741" y="607341"/>
            <a:ext cx="17526900" cy="0"/>
          </a:xfrm>
          <a:prstGeom prst="straightConnector1">
            <a:avLst/>
          </a:prstGeom>
          <a:noFill/>
          <a:ln w="38100" cap="flat" cmpd="sng">
            <a:solidFill>
              <a:srgbClr val="FFFFFF">
                <a:alpha val="3529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88" name="Google Shape;288;p28"/>
          <p:cNvGrpSpPr/>
          <p:nvPr/>
        </p:nvGrpSpPr>
        <p:grpSpPr>
          <a:xfrm>
            <a:off x="1931437" y="4295198"/>
            <a:ext cx="2050776" cy="1989905"/>
            <a:chOff x="0" y="-47625"/>
            <a:chExt cx="812800" cy="860425"/>
          </a:xfrm>
        </p:grpSpPr>
        <p:sp>
          <p:nvSpPr>
            <p:cNvPr id="289" name="Google Shape;289;p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70426" y="0"/>
                  </a:moveTo>
                  <a:lnTo>
                    <a:pt x="742374" y="0"/>
                  </a:lnTo>
                  <a:cubicBezTo>
                    <a:pt x="761052" y="0"/>
                    <a:pt x="778965" y="7420"/>
                    <a:pt x="792173" y="20627"/>
                  </a:cubicBezTo>
                  <a:cubicBezTo>
                    <a:pt x="805380" y="33835"/>
                    <a:pt x="812800" y="51748"/>
                    <a:pt x="812800" y="70426"/>
                  </a:cubicBezTo>
                  <a:lnTo>
                    <a:pt x="812800" y="742374"/>
                  </a:lnTo>
                  <a:cubicBezTo>
                    <a:pt x="812800" y="761052"/>
                    <a:pt x="805380" y="778965"/>
                    <a:pt x="792173" y="792173"/>
                  </a:cubicBezTo>
                  <a:cubicBezTo>
                    <a:pt x="778965" y="805380"/>
                    <a:pt x="761052" y="812800"/>
                    <a:pt x="742374" y="812800"/>
                  </a:cubicBezTo>
                  <a:lnTo>
                    <a:pt x="70426" y="812800"/>
                  </a:lnTo>
                  <a:cubicBezTo>
                    <a:pt x="51748" y="812800"/>
                    <a:pt x="33835" y="805380"/>
                    <a:pt x="20627" y="792173"/>
                  </a:cubicBezTo>
                  <a:cubicBezTo>
                    <a:pt x="7420" y="778965"/>
                    <a:pt x="0" y="761052"/>
                    <a:pt x="0" y="742374"/>
                  </a:cubicBezTo>
                  <a:lnTo>
                    <a:pt x="0" y="70426"/>
                  </a:lnTo>
                  <a:cubicBezTo>
                    <a:pt x="0" y="51748"/>
                    <a:pt x="7420" y="33835"/>
                    <a:pt x="20627" y="20627"/>
                  </a:cubicBezTo>
                  <a:cubicBezTo>
                    <a:pt x="33835" y="7420"/>
                    <a:pt x="51748" y="0"/>
                    <a:pt x="70426" y="0"/>
                  </a:cubicBezTo>
                  <a:close/>
                </a:path>
              </a:pathLst>
            </a:custGeom>
            <a:solidFill>
              <a:srgbClr val="731963"/>
            </a:solidFill>
            <a:ln>
              <a:noFill/>
            </a:ln>
          </p:spPr>
          <p:txBody>
            <a:bodyPr spcFirstLastPara="1" wrap="square" lIns="30650" tIns="30650" rIns="30650" bIns="306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8"/>
            <p:cNvSpPr txBox="1"/>
            <p:nvPr/>
          </p:nvSpPr>
          <p:spPr>
            <a:xfrm>
              <a:off x="0" y="-47625"/>
              <a:ext cx="812700" cy="86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025" tIns="17025" rIns="17025" bIns="17025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0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1" name="Google Shape;291;p28"/>
          <p:cNvGrpSpPr/>
          <p:nvPr/>
        </p:nvGrpSpPr>
        <p:grpSpPr>
          <a:xfrm>
            <a:off x="6209900" y="622102"/>
            <a:ext cx="11083503" cy="9042809"/>
            <a:chOff x="0" y="-47625"/>
            <a:chExt cx="812800" cy="860425"/>
          </a:xfrm>
        </p:grpSpPr>
        <p:sp>
          <p:nvSpPr>
            <p:cNvPr id="292" name="Google Shape;292;p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70426" y="0"/>
                  </a:moveTo>
                  <a:lnTo>
                    <a:pt x="742374" y="0"/>
                  </a:lnTo>
                  <a:cubicBezTo>
                    <a:pt x="761052" y="0"/>
                    <a:pt x="778965" y="7420"/>
                    <a:pt x="792173" y="20627"/>
                  </a:cubicBezTo>
                  <a:cubicBezTo>
                    <a:pt x="805380" y="33835"/>
                    <a:pt x="812800" y="51748"/>
                    <a:pt x="812800" y="70426"/>
                  </a:cubicBezTo>
                  <a:lnTo>
                    <a:pt x="812800" y="742374"/>
                  </a:lnTo>
                  <a:cubicBezTo>
                    <a:pt x="812800" y="761052"/>
                    <a:pt x="805380" y="778965"/>
                    <a:pt x="792173" y="792173"/>
                  </a:cubicBezTo>
                  <a:cubicBezTo>
                    <a:pt x="778965" y="805380"/>
                    <a:pt x="761052" y="812800"/>
                    <a:pt x="742374" y="812800"/>
                  </a:cubicBezTo>
                  <a:lnTo>
                    <a:pt x="70426" y="812800"/>
                  </a:lnTo>
                  <a:cubicBezTo>
                    <a:pt x="51748" y="812800"/>
                    <a:pt x="33835" y="805380"/>
                    <a:pt x="20627" y="792173"/>
                  </a:cubicBezTo>
                  <a:cubicBezTo>
                    <a:pt x="7420" y="778965"/>
                    <a:pt x="0" y="761052"/>
                    <a:pt x="0" y="742374"/>
                  </a:cubicBezTo>
                  <a:lnTo>
                    <a:pt x="0" y="70426"/>
                  </a:lnTo>
                  <a:cubicBezTo>
                    <a:pt x="0" y="51748"/>
                    <a:pt x="7420" y="33835"/>
                    <a:pt x="20627" y="20627"/>
                  </a:cubicBezTo>
                  <a:cubicBezTo>
                    <a:pt x="33835" y="7420"/>
                    <a:pt x="51748" y="0"/>
                    <a:pt x="70426" y="0"/>
                  </a:cubicBezTo>
                  <a:close/>
                </a:path>
              </a:pathLst>
            </a:custGeom>
            <a:solidFill>
              <a:srgbClr val="ECA72C"/>
            </a:solidFill>
            <a:ln>
              <a:noFill/>
            </a:ln>
          </p:spPr>
          <p:txBody>
            <a:bodyPr spcFirstLastPara="1" wrap="square" lIns="143900" tIns="143900" rIns="143900" bIns="143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8"/>
            <p:cNvSpPr txBox="1"/>
            <p:nvPr/>
          </p:nvSpPr>
          <p:spPr>
            <a:xfrm>
              <a:off x="0" y="-47625"/>
              <a:ext cx="812700" cy="86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9950" tIns="79950" rIns="79950" bIns="7995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4" name="Google Shape;294;p28"/>
          <p:cNvGrpSpPr/>
          <p:nvPr/>
        </p:nvGrpSpPr>
        <p:grpSpPr>
          <a:xfrm>
            <a:off x="1931438" y="6380898"/>
            <a:ext cx="2050776" cy="1877619"/>
            <a:chOff x="0" y="-47625"/>
            <a:chExt cx="812800" cy="860425"/>
          </a:xfrm>
        </p:grpSpPr>
        <p:sp>
          <p:nvSpPr>
            <p:cNvPr id="295" name="Google Shape;295;p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70426" y="0"/>
                  </a:moveTo>
                  <a:lnTo>
                    <a:pt x="742374" y="0"/>
                  </a:lnTo>
                  <a:cubicBezTo>
                    <a:pt x="761052" y="0"/>
                    <a:pt x="778965" y="7420"/>
                    <a:pt x="792173" y="20627"/>
                  </a:cubicBezTo>
                  <a:cubicBezTo>
                    <a:pt x="805380" y="33835"/>
                    <a:pt x="812800" y="51748"/>
                    <a:pt x="812800" y="70426"/>
                  </a:cubicBezTo>
                  <a:lnTo>
                    <a:pt x="812800" y="742374"/>
                  </a:lnTo>
                  <a:cubicBezTo>
                    <a:pt x="812800" y="761052"/>
                    <a:pt x="805380" y="778965"/>
                    <a:pt x="792173" y="792173"/>
                  </a:cubicBezTo>
                  <a:cubicBezTo>
                    <a:pt x="778965" y="805380"/>
                    <a:pt x="761052" y="812800"/>
                    <a:pt x="742374" y="812800"/>
                  </a:cubicBezTo>
                  <a:lnTo>
                    <a:pt x="70426" y="812800"/>
                  </a:lnTo>
                  <a:cubicBezTo>
                    <a:pt x="51748" y="812800"/>
                    <a:pt x="33835" y="805380"/>
                    <a:pt x="20627" y="792173"/>
                  </a:cubicBezTo>
                  <a:cubicBezTo>
                    <a:pt x="7420" y="778965"/>
                    <a:pt x="0" y="761052"/>
                    <a:pt x="0" y="742374"/>
                  </a:cubicBezTo>
                  <a:lnTo>
                    <a:pt x="0" y="70426"/>
                  </a:lnTo>
                  <a:cubicBezTo>
                    <a:pt x="0" y="51748"/>
                    <a:pt x="7420" y="33835"/>
                    <a:pt x="20627" y="20627"/>
                  </a:cubicBezTo>
                  <a:cubicBezTo>
                    <a:pt x="33835" y="7420"/>
                    <a:pt x="51748" y="0"/>
                    <a:pt x="70426" y="0"/>
                  </a:cubicBezTo>
                  <a:close/>
                </a:path>
              </a:pathLst>
            </a:custGeom>
            <a:solidFill>
              <a:srgbClr val="256EFF"/>
            </a:solidFill>
            <a:ln>
              <a:noFill/>
            </a:ln>
          </p:spPr>
          <p:txBody>
            <a:bodyPr spcFirstLastPara="1" wrap="square" lIns="33425" tIns="33425" rIns="33425" bIns="33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8"/>
            <p:cNvSpPr txBox="1"/>
            <p:nvPr/>
          </p:nvSpPr>
          <p:spPr>
            <a:xfrm>
              <a:off x="0" y="-47625"/>
              <a:ext cx="812700" cy="86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575" tIns="18575" rIns="18575" bIns="18575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7" name="Google Shape;297;p28"/>
          <p:cNvSpPr txBox="1"/>
          <p:nvPr/>
        </p:nvSpPr>
        <p:spPr>
          <a:xfrm>
            <a:off x="1989313" y="4822697"/>
            <a:ext cx="1935000" cy="11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</a:rPr>
              <a:t>RMSE: 222.78</a:t>
            </a:r>
            <a:endParaRPr sz="3000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1"/>
              </a:solidFill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2047213" y="6881600"/>
            <a:ext cx="1935000" cy="15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</a:rPr>
              <a:t>R² Score: 0.427</a:t>
            </a:r>
            <a:endParaRPr sz="3000">
              <a:solidFill>
                <a:schemeClr val="lt1"/>
              </a:solidFill>
            </a:endParaRPr>
          </a:p>
        </p:txBody>
      </p:sp>
      <p:sp>
        <p:nvSpPr>
          <p:cNvPr id="299" name="Google Shape;299;p28"/>
          <p:cNvSpPr txBox="1"/>
          <p:nvPr/>
        </p:nvSpPr>
        <p:spPr>
          <a:xfrm>
            <a:off x="1205875" y="2879875"/>
            <a:ext cx="3617700" cy="12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lt1"/>
                </a:solidFill>
              </a:rPr>
              <a:t>ExtraTreesRegressor results</a:t>
            </a:r>
            <a:endParaRPr sz="2700">
              <a:solidFill>
                <a:schemeClr val="lt1"/>
              </a:solidFill>
            </a:endParaRPr>
          </a:p>
        </p:txBody>
      </p:sp>
      <p:sp>
        <p:nvSpPr>
          <p:cNvPr id="300" name="Google Shape;300;p28"/>
          <p:cNvSpPr txBox="1"/>
          <p:nvPr/>
        </p:nvSpPr>
        <p:spPr>
          <a:xfrm>
            <a:off x="381741" y="138711"/>
            <a:ext cx="2669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Fall 2025</a:t>
            </a:r>
            <a:endParaRPr/>
          </a:p>
        </p:txBody>
      </p:sp>
      <p:sp>
        <p:nvSpPr>
          <p:cNvPr id="301" name="Google Shape;301;p28"/>
          <p:cNvSpPr txBox="1"/>
          <p:nvPr/>
        </p:nvSpPr>
        <p:spPr>
          <a:xfrm>
            <a:off x="16828375" y="138688"/>
            <a:ext cx="1080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CS 329</a:t>
            </a:r>
            <a:endParaRPr/>
          </a:p>
        </p:txBody>
      </p:sp>
      <p:pic>
        <p:nvPicPr>
          <p:cNvPr id="302" name="Google Shape;30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5982" y="1510929"/>
            <a:ext cx="10128724" cy="778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4D44A6"/>
            </a:gs>
            <a:gs pos="33329">
              <a:srgbClr val="4D44A6"/>
            </a:gs>
            <a:gs pos="66670">
              <a:srgbClr val="000000"/>
            </a:gs>
            <a:gs pos="100000">
              <a:srgbClr val="00000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33839" y="853700"/>
            <a:ext cx="18955678" cy="8579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8" name="Google Shape;308;p29"/>
          <p:cNvCxnSpPr/>
          <p:nvPr/>
        </p:nvCxnSpPr>
        <p:spPr>
          <a:xfrm>
            <a:off x="381741" y="607341"/>
            <a:ext cx="17526900" cy="0"/>
          </a:xfrm>
          <a:prstGeom prst="straightConnector1">
            <a:avLst/>
          </a:prstGeom>
          <a:noFill/>
          <a:ln w="38100" cap="flat" cmpd="sng">
            <a:solidFill>
              <a:srgbClr val="FFFFFF">
                <a:alpha val="3529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9" name="Google Shape;309;p29"/>
          <p:cNvSpPr txBox="1"/>
          <p:nvPr/>
        </p:nvSpPr>
        <p:spPr>
          <a:xfrm>
            <a:off x="3050896" y="4067175"/>
            <a:ext cx="121863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CONCLUSION</a:t>
            </a:r>
            <a:endParaRPr/>
          </a:p>
        </p:txBody>
      </p:sp>
      <p:grpSp>
        <p:nvGrpSpPr>
          <p:cNvPr id="310" name="Google Shape;310;p29"/>
          <p:cNvGrpSpPr/>
          <p:nvPr/>
        </p:nvGrpSpPr>
        <p:grpSpPr>
          <a:xfrm rot="2700000">
            <a:off x="14858424" y="3850316"/>
            <a:ext cx="2586142" cy="2586142"/>
            <a:chOff x="0" y="16"/>
            <a:chExt cx="3448385" cy="3448385"/>
          </a:xfrm>
        </p:grpSpPr>
        <p:grpSp>
          <p:nvGrpSpPr>
            <p:cNvPr id="311" name="Google Shape;311;p29"/>
            <p:cNvGrpSpPr/>
            <p:nvPr/>
          </p:nvGrpSpPr>
          <p:grpSpPr>
            <a:xfrm rot="-2700000">
              <a:off x="505004" y="505021"/>
              <a:ext cx="2438377" cy="2438377"/>
              <a:chOff x="0" y="0"/>
              <a:chExt cx="812800" cy="812800"/>
            </a:xfrm>
          </p:grpSpPr>
          <p:sp>
            <p:nvSpPr>
              <p:cNvPr id="312" name="Google Shape;312;p2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29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314" name="Google Shape;314;p29"/>
            <p:cNvCxnSpPr/>
            <p:nvPr/>
          </p:nvCxnSpPr>
          <p:spPr>
            <a:xfrm>
              <a:off x="801312" y="1731782"/>
              <a:ext cx="1719300" cy="0"/>
            </a:xfrm>
            <a:prstGeom prst="straightConnector1">
              <a:avLst/>
            </a:prstGeom>
            <a:noFill/>
            <a:ln w="139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5" name="Google Shape;315;p29"/>
            <p:cNvCxnSpPr/>
            <p:nvPr/>
          </p:nvCxnSpPr>
          <p:spPr>
            <a:xfrm rot="10800000" flipH="1">
              <a:off x="1934329" y="1676838"/>
              <a:ext cx="663300" cy="663300"/>
            </a:xfrm>
            <a:prstGeom prst="straightConnector1">
              <a:avLst/>
            </a:prstGeom>
            <a:noFill/>
            <a:ln w="139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6" name="Google Shape;316;p29"/>
            <p:cNvCxnSpPr/>
            <p:nvPr/>
          </p:nvCxnSpPr>
          <p:spPr>
            <a:xfrm rot="10800000">
              <a:off x="1934415" y="1108367"/>
              <a:ext cx="663300" cy="663300"/>
            </a:xfrm>
            <a:prstGeom prst="straightConnector1">
              <a:avLst/>
            </a:prstGeom>
            <a:noFill/>
            <a:ln w="139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317" name="Google Shape;317;p29"/>
          <p:cNvGrpSpPr/>
          <p:nvPr/>
        </p:nvGrpSpPr>
        <p:grpSpPr>
          <a:xfrm rot="2700000">
            <a:off x="843416" y="3971765"/>
            <a:ext cx="2586142" cy="2586142"/>
            <a:chOff x="0" y="16"/>
            <a:chExt cx="3448385" cy="3448385"/>
          </a:xfrm>
        </p:grpSpPr>
        <p:grpSp>
          <p:nvGrpSpPr>
            <p:cNvPr id="318" name="Google Shape;318;p29"/>
            <p:cNvGrpSpPr/>
            <p:nvPr/>
          </p:nvGrpSpPr>
          <p:grpSpPr>
            <a:xfrm rot="-2700000">
              <a:off x="505004" y="505021"/>
              <a:ext cx="2438377" cy="2438377"/>
              <a:chOff x="0" y="0"/>
              <a:chExt cx="812800" cy="812800"/>
            </a:xfrm>
          </p:grpSpPr>
          <p:sp>
            <p:nvSpPr>
              <p:cNvPr id="319" name="Google Shape;319;p2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29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321" name="Google Shape;321;p29"/>
            <p:cNvCxnSpPr/>
            <p:nvPr/>
          </p:nvCxnSpPr>
          <p:spPr>
            <a:xfrm>
              <a:off x="801312" y="1731782"/>
              <a:ext cx="1719300" cy="0"/>
            </a:xfrm>
            <a:prstGeom prst="straightConnector1">
              <a:avLst/>
            </a:prstGeom>
            <a:noFill/>
            <a:ln w="139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2" name="Google Shape;322;p29"/>
            <p:cNvCxnSpPr/>
            <p:nvPr/>
          </p:nvCxnSpPr>
          <p:spPr>
            <a:xfrm rot="10800000" flipH="1">
              <a:off x="1934329" y="1676838"/>
              <a:ext cx="663300" cy="663300"/>
            </a:xfrm>
            <a:prstGeom prst="straightConnector1">
              <a:avLst/>
            </a:prstGeom>
            <a:noFill/>
            <a:ln w="139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3" name="Google Shape;323;p29"/>
            <p:cNvCxnSpPr/>
            <p:nvPr/>
          </p:nvCxnSpPr>
          <p:spPr>
            <a:xfrm rot="10800000">
              <a:off x="1934415" y="1108367"/>
              <a:ext cx="663300" cy="663300"/>
            </a:xfrm>
            <a:prstGeom prst="straightConnector1">
              <a:avLst/>
            </a:prstGeom>
            <a:noFill/>
            <a:ln w="139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24" name="Google Shape;324;p29"/>
          <p:cNvSpPr txBox="1"/>
          <p:nvPr/>
        </p:nvSpPr>
        <p:spPr>
          <a:xfrm>
            <a:off x="381741" y="138711"/>
            <a:ext cx="2669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Fall 2025</a:t>
            </a:r>
            <a:endParaRPr/>
          </a:p>
        </p:txBody>
      </p:sp>
      <p:sp>
        <p:nvSpPr>
          <p:cNvPr id="325" name="Google Shape;325;p29"/>
          <p:cNvSpPr txBox="1"/>
          <p:nvPr/>
        </p:nvSpPr>
        <p:spPr>
          <a:xfrm>
            <a:off x="16899875" y="138688"/>
            <a:ext cx="1080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CS 329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4D44A6"/>
            </a:gs>
            <a:gs pos="50000">
              <a:srgbClr val="000000"/>
            </a:gs>
            <a:gs pos="100000">
              <a:srgbClr val="00000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0"/>
          <p:cNvSpPr txBox="1"/>
          <p:nvPr/>
        </p:nvSpPr>
        <p:spPr>
          <a:xfrm>
            <a:off x="381743" y="1340697"/>
            <a:ext cx="12804900" cy="41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4000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mo"/>
              <a:buChar char="-"/>
            </a:pPr>
            <a:r>
              <a:rPr lang="en-US" sz="27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Strongest factors were genre and artist</a:t>
            </a:r>
            <a:endParaRPr sz="27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marL="91440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57200" marR="0" lvl="0" indent="-4000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mo"/>
              <a:buChar char="-"/>
            </a:pPr>
            <a:r>
              <a:rPr lang="en-US" sz="27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Music is diverse and difficult to predict popularity</a:t>
            </a:r>
            <a:endParaRPr sz="27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marL="91440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57200" marR="0" lvl="0" indent="-4000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mo"/>
              <a:buChar char="-"/>
            </a:pPr>
            <a:r>
              <a:rPr lang="en-US" sz="27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Many factors contribute to popularity</a:t>
            </a:r>
            <a:endParaRPr sz="27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57200" marR="0" lvl="0" indent="-4000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mo"/>
              <a:buChar char="-"/>
            </a:pPr>
            <a:r>
              <a:rPr lang="en-US" sz="27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Need to think about current trends </a:t>
            </a:r>
            <a:endParaRPr sz="27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lt1"/>
              </a:solidFill>
            </a:endParaRPr>
          </a:p>
          <a:p>
            <a:pPr marL="457200" lvl="0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Char char="-"/>
            </a:pPr>
            <a:r>
              <a:rPr lang="en-US" sz="2700">
                <a:solidFill>
                  <a:schemeClr val="lt1"/>
                </a:solidFill>
              </a:rPr>
              <a:t>playlist_genre, artist, loudness, energy, instrumentalness, acousticness, danceability, tempo are able to capture some trend in track_popularity with some limitations</a:t>
            </a:r>
            <a:endParaRPr sz="27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331" name="Google Shape;331;p30"/>
          <p:cNvCxnSpPr/>
          <p:nvPr/>
        </p:nvCxnSpPr>
        <p:spPr>
          <a:xfrm>
            <a:off x="381741" y="607341"/>
            <a:ext cx="17526900" cy="0"/>
          </a:xfrm>
          <a:prstGeom prst="straightConnector1">
            <a:avLst/>
          </a:prstGeom>
          <a:noFill/>
          <a:ln w="38100" cap="flat" cmpd="sng">
            <a:solidFill>
              <a:srgbClr val="FFFFFF">
                <a:alpha val="3529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2" name="Google Shape;332;p30"/>
          <p:cNvSpPr txBox="1"/>
          <p:nvPr/>
        </p:nvSpPr>
        <p:spPr>
          <a:xfrm>
            <a:off x="381741" y="138711"/>
            <a:ext cx="2669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Fall 2025</a:t>
            </a: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16828350" y="138688"/>
            <a:ext cx="1080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CS 329</a:t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7882275" y="7176225"/>
            <a:ext cx="9754800" cy="24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Potential improvements:</a:t>
            </a:r>
            <a:endParaRPr sz="32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AutoNum type="arabicPeriod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group songs by genres (controlled for genre variable) or artists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AutoNum type="arabicPeriod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Test out other datasets with different variables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4D44A6"/>
            </a:gs>
            <a:gs pos="50000">
              <a:srgbClr val="000000"/>
            </a:gs>
            <a:gs pos="100000">
              <a:srgbClr val="00000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1"/>
          <p:cNvSpPr txBox="1"/>
          <p:nvPr/>
        </p:nvSpPr>
        <p:spPr>
          <a:xfrm>
            <a:off x="6413550" y="1303900"/>
            <a:ext cx="54633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References</a:t>
            </a:r>
            <a:endParaRPr sz="80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340" name="Google Shape;340;p31"/>
          <p:cNvCxnSpPr/>
          <p:nvPr/>
        </p:nvCxnSpPr>
        <p:spPr>
          <a:xfrm>
            <a:off x="381741" y="607341"/>
            <a:ext cx="17526900" cy="0"/>
          </a:xfrm>
          <a:prstGeom prst="straightConnector1">
            <a:avLst/>
          </a:prstGeom>
          <a:noFill/>
          <a:ln w="38100" cap="flat" cmpd="sng">
            <a:solidFill>
              <a:srgbClr val="FFFFFF">
                <a:alpha val="3529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1" name="Google Shape;341;p31"/>
          <p:cNvSpPr txBox="1"/>
          <p:nvPr/>
        </p:nvSpPr>
        <p:spPr>
          <a:xfrm>
            <a:off x="381741" y="138711"/>
            <a:ext cx="2669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Fall 2025</a:t>
            </a:r>
            <a:endParaRPr/>
          </a:p>
        </p:txBody>
      </p:sp>
      <p:sp>
        <p:nvSpPr>
          <p:cNvPr id="342" name="Google Shape;342;p31"/>
          <p:cNvSpPr txBox="1"/>
          <p:nvPr/>
        </p:nvSpPr>
        <p:spPr>
          <a:xfrm>
            <a:off x="16828350" y="138688"/>
            <a:ext cx="1080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CS 329</a:t>
            </a:r>
            <a:endParaRPr/>
          </a:p>
        </p:txBody>
      </p:sp>
      <p:sp>
        <p:nvSpPr>
          <p:cNvPr id="343" name="Google Shape;343;p31"/>
          <p:cNvSpPr txBox="1"/>
          <p:nvPr/>
        </p:nvSpPr>
        <p:spPr>
          <a:xfrm>
            <a:off x="3901975" y="3231950"/>
            <a:ext cx="10257000" cy="51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55600" lvl="0" indent="-127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</a:rPr>
              <a:t>Ameh, S. (2025, January 7). </a:t>
            </a:r>
            <a:r>
              <a:rPr lang="en-US" sz="2000" i="1">
                <a:solidFill>
                  <a:schemeClr val="lt1"/>
                </a:solidFill>
              </a:rPr>
              <a:t>Spotify Music dataset</a:t>
            </a:r>
            <a:r>
              <a:rPr lang="en-US" sz="2000">
                <a:solidFill>
                  <a:schemeClr val="lt1"/>
                </a:solidFill>
              </a:rPr>
              <a:t>. Kaggle. https://www.kaggle.com/datasets/solomonameh/spotify-music-dataset?resource=download </a:t>
            </a:r>
            <a:endParaRPr sz="2000">
              <a:solidFill>
                <a:schemeClr val="lt1"/>
              </a:solidFill>
            </a:endParaRPr>
          </a:p>
          <a:p>
            <a:pPr marL="355600" lvl="0" indent="-127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chemeClr val="lt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https://scikit-learn.org/stable/modules/generated/sklearn.ensemble.ExtraTreesRegressor.html</a:t>
            </a:r>
            <a:endParaRPr sz="2000">
              <a:solidFill>
                <a:schemeClr val="lt1"/>
              </a:solidFill>
            </a:endParaRPr>
          </a:p>
          <a:p>
            <a:pPr marL="355600" lvl="0" indent="-127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chemeClr val="lt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https://scikit-learn.org/stable/modules/generated/sklearn.feature_selection.mutual_info_regression.html</a:t>
            </a:r>
            <a:endParaRPr sz="2000">
              <a:solidFill>
                <a:schemeClr val="lt1"/>
              </a:solidFill>
            </a:endParaRPr>
          </a:p>
          <a:p>
            <a:pPr marL="355600" lvl="0" indent="-12700" algn="l" rtl="0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endParaRPr sz="2000">
              <a:solidFill>
                <a:schemeClr val="lt1"/>
              </a:solidFill>
            </a:endParaRPr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584</Words>
  <Application>Microsoft Office PowerPoint</Application>
  <PresentationFormat>Custom</PresentationFormat>
  <Paragraphs>111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Calibri</vt:lpstr>
      <vt:lpstr>Arimo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Liuxin Pan</cp:lastModifiedBy>
  <cp:revision>1</cp:revision>
  <dcterms:modified xsi:type="dcterms:W3CDTF">2025-12-24T02:40:32Z</dcterms:modified>
</cp:coreProperties>
</file>