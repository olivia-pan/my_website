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98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Market Size</a:t>
            </a:r>
            <a:r>
              <a:rPr lang="en">
                <a:solidFill>
                  <a:schemeClr val="dk1"/>
                </a:solidFill>
              </a:rPr>
              <a:t>: driven by increasing demand for renewable energy and advancements in solar technology.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Growth Rate</a:t>
            </a:r>
            <a:r>
              <a:rPr lang="en">
                <a:solidFill>
                  <a:schemeClr val="dk1"/>
                </a:solidFill>
              </a:rPr>
              <a:t>: fueled by governmental policies promoting renewable energy and decreasing costs of solar installations.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Headquarters</a:t>
            </a:r>
            <a:r>
              <a:rPr lang="en">
                <a:solidFill>
                  <a:schemeClr val="dk1"/>
                </a:solidFill>
              </a:rPr>
              <a:t>: Albuquerque, New Mexico, USA.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Founded</a:t>
            </a:r>
            <a:r>
              <a:rPr lang="en">
                <a:solidFill>
                  <a:schemeClr val="dk1"/>
                </a:solidFill>
              </a:rPr>
              <a:t>: 1989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Why we choose it: because there is relatively constant positive free cash flow for the future years which guarantee the ability to pay back debt with normal operation in the future.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a0ca99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a0ca994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9b5564a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9b5564a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a3c89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a3c89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 more specific on market positioning, maybe highly competitive, product hard to differentiate.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a3c8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a3c8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Generally, large portions of sources will be used at purchase of equity and the management rollover percentage is really low. The interest of debt is lower than consensus.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a10c0513c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a10c0513c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a10c0513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a10c0513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a10c0513c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a10c0513c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a3c89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a3c89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premium: 1) Strategic value (access to new markets or technologies). 2) High future growth potential in the clean energy sector. 3) Favorable industry trends (e.g., growth in utility-scale solar).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Leverage reason: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Risk Factors</a:t>
            </a:r>
            <a:r>
              <a:rPr lang="en">
                <a:solidFill>
                  <a:schemeClr val="dk1"/>
                </a:solidFill>
              </a:rPr>
              <a:t>: Solar energy companies can face variable cash flows due to project delays, regulatory shifts, or supply chain challenges, so excessive leverage might increase financial risk.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Cash Flow</a:t>
            </a:r>
            <a:r>
              <a:rPr lang="en">
                <a:solidFill>
                  <a:schemeClr val="dk1"/>
                </a:solidFill>
              </a:rPr>
              <a:t>: Array's ability to generate stable cash flows from long-term solar contracts may support higher leverage, but care should be taken to avoid over-leveraging due to the industry's cyclical nature.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CVRs for downside protection</a:t>
            </a:r>
            <a:r>
              <a:rPr lang="en" sz="6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by tying part of the payout to future performance metrics, also help on aligning interest of shareholders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Performance based bonus to incentive array’s employee to meet the objectives of post-acquisition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Review current valuation multiples for publicly traded solar and renewable energy companies, focusing on </a:t>
            </a:r>
            <a:r>
              <a:rPr lang="en" b="1">
                <a:solidFill>
                  <a:schemeClr val="dk1"/>
                </a:solidFill>
              </a:rPr>
              <a:t>EV/EBITDA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P/E ratios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Revenue multiples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Compare trade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Array ev: </a:t>
            </a:r>
            <a:r>
              <a:rPr lang="en" sz="1000">
                <a:solidFill>
                  <a:schemeClr val="dk1"/>
                </a:solidFill>
              </a:rPr>
              <a:t>1,560 million, ebitda:</a:t>
            </a:r>
            <a:r>
              <a:rPr lang="en" sz="1000">
                <a:solidFill>
                  <a:srgbClr val="008000"/>
                </a:solidFill>
              </a:rPr>
              <a:t>195million, ev/ ebitda =8 (less than 10 means undervalued, good!)</a:t>
            </a:r>
            <a:endParaRPr sz="1000">
              <a:solidFill>
                <a:srgbClr val="008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00"/>
                </a:solidFill>
              </a:rPr>
              <a:t>NextEra ev: 250152 million, ebitda: 14767 million, ev/ebitda = 16.94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Array a premium: 20%, nextera energy’s premium: ~25%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9b5564a4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9b5564a4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Duiltive securities change of control provision!!!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a3c89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a3c89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>
                <a:solidFill>
                  <a:schemeClr val="dk1"/>
                </a:solidFill>
              </a:rPr>
              <a:t>Initiating the discussion with Array Technologies' management team. Management knows the company’s operations. Approaching them directly and privately gives you a chance to negotiate a more collaborative deal. This approach also minimizes the risk of </a:t>
            </a:r>
            <a:r>
              <a:rPr lang="en" b="1">
                <a:solidFill>
                  <a:schemeClr val="dk1"/>
                </a:solidFill>
              </a:rPr>
              <a:t>hostile reactions</a:t>
            </a:r>
            <a:r>
              <a:rPr lang="en">
                <a:solidFill>
                  <a:schemeClr val="dk1"/>
                </a:solidFill>
              </a:rPr>
              <a:t> or the spread of negative sentiments within the company or market.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>
                <a:solidFill>
                  <a:schemeClr val="dk1"/>
                </a:solidFill>
              </a:rPr>
              <a:t>Compelling premium 20%-40%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a10c051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a10c0513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portion of the shares are held by other institutions.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a10c0513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a10c0513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tools: i</a:t>
            </a:r>
            <a:r>
              <a:rPr lang="en">
                <a:solidFill>
                  <a:schemeClr val="dk1"/>
                </a:solidFill>
              </a:rPr>
              <a:t>mplementing </a:t>
            </a:r>
            <a:r>
              <a:rPr lang="en" b="1">
                <a:solidFill>
                  <a:schemeClr val="dk1"/>
                </a:solidFill>
              </a:rPr>
              <a:t>advanced data analytics, IoT sensors, and AI-driven monitoring systems</a:t>
            </a:r>
            <a:r>
              <a:rPr lang="en">
                <a:solidFill>
                  <a:schemeClr val="dk1"/>
                </a:solidFill>
              </a:rPr>
              <a:t> can optimize operations in real-time, from manufacturing to the performance of solar trackers in the field. enhance predictive maintenance, reducing downtime and increasing efficiency.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Supply chain optimization: securing long-term contracts with key suppliers, increasing domestic content sourcing (which they are already focusing on), and streamlining logistics to reduce delays and costs in solar tracking installations.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Strategic partnerships: ally with engineering firms or utility firms to increase the likelihood of winning large-scale contracts, improving market share through stronger bids.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Competitors: acquire small competitor to increase control of key components and lower costs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Solar-wind strategy: integrate with wind energy and agriculture activities to attract more investors and in new end market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a10c0513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a10c0513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timing: after 5 years. Sales to strategic buyers or initial public offering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a10c0513c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a10c0513c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Higher </a:t>
            </a:r>
            <a:r>
              <a:rPr lang="en" b="1">
                <a:solidFill>
                  <a:schemeClr val="dk1"/>
                </a:solidFill>
              </a:rPr>
              <a:t>exit multiples</a:t>
            </a:r>
            <a:r>
              <a:rPr lang="en">
                <a:solidFill>
                  <a:schemeClr val="dk1"/>
                </a:solidFill>
              </a:rPr>
              <a:t> and higher </a:t>
            </a:r>
            <a:r>
              <a:rPr lang="en" b="1">
                <a:solidFill>
                  <a:schemeClr val="dk1"/>
                </a:solidFill>
              </a:rPr>
              <a:t>purchase premiums</a:t>
            </a:r>
            <a:r>
              <a:rPr lang="en">
                <a:solidFill>
                  <a:schemeClr val="dk1"/>
                </a:solidFill>
              </a:rPr>
              <a:t> both lead to higher returns.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Increasing the exit multiple has a more significant impact on returns than the purchase premium, as the values shift more considerably across the rows compared to across columns.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a10c0513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a10c0513c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a10c0513c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a10c0513c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Technologies Inc Acquisition Presentation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Enfincers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Member: Olivia Pan, Lingya Qiao  • 10.04.2024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4768450" y="51125"/>
            <a:ext cx="4266000" cy="489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/>
              <a:t>Array Technologies Inc. </a:t>
            </a:r>
            <a:endParaRPr sz="2700" b="1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Headquarter in NM, USA, went public in year 2020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Focuses on utility and distributes generation solar energy projects globally.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Offers a portfolio of integrated solar tracking systems which can adjust angle, increased 10-25% energy output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Key components of the systems include: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	 - Steel tubing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 	 - Steel supports, etc.</a:t>
            </a: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50" y="2983825"/>
            <a:ext cx="3757825" cy="1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49" y="179150"/>
            <a:ext cx="2565649" cy="141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463950" y="507550"/>
            <a:ext cx="82161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and Industry Information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>
            <a:off x="820425" y="1142950"/>
            <a:ext cx="7859700" cy="3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Market and Industry Overview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Market Size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The global solar tracking market has been experiencing significant growth because of demand for renewable energy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Growth Rate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The solar tracking market is expected to grow at a robust CAGR (Compound Annual Growth Rate) over the coming years, also fueled by governmental policy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Key Market Strength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Advanced solar tracking technology for utility-scale projects​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Sustainability Focus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Strong ESG (Environmental, Social, Governance) principles, driving renewable energy adoption.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564600" y="685375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Market and Industry Information</a:t>
            </a: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1098075" y="1320775"/>
            <a:ext cx="6210600" cy="31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Competitive Landscape</a:t>
            </a:r>
            <a:endParaRPr sz="21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Nextracker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SolarFlex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SunPower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Differentiation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innovative designs, reliability, and a focus on performance efficiency.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>
                <a:latin typeface="Arial"/>
                <a:ea typeface="Arial"/>
                <a:cs typeface="Arial"/>
                <a:sym typeface="Arial"/>
              </a:rPr>
              <a:t>Key Products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: DuraTrack, STI H250, SmarTrack (machine learning-based optimization software).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0882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165100" y="4419600"/>
            <a:ext cx="8724900" cy="647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518150" y="575950"/>
            <a:ext cx="8203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Projection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518150" y="1602675"/>
            <a:ext cx="39807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Market Positioning</a:t>
            </a:r>
            <a:endParaRPr sz="21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600"/>
              </a:spcBef>
              <a:spcAft>
                <a:spcPts val="1200"/>
              </a:spcAft>
              <a:buSzPts val="1700"/>
              <a:buChar char="●"/>
            </a:pPr>
            <a:r>
              <a:rPr lang="en" sz="1700"/>
              <a:t>There could be a divergence in perspectives on the company's ability to maintain or expand its market position, particularly in a competitive industry like solar energy.</a:t>
            </a:r>
            <a:endParaRPr sz="1700"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4663275" y="1602675"/>
            <a:ext cx="40587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Risk-averse Assumption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600"/>
              </a:spcBef>
              <a:spcAft>
                <a:spcPts val="1200"/>
              </a:spcAft>
              <a:buSzPts val="2200"/>
              <a:buChar char="●"/>
            </a:pPr>
            <a:r>
              <a:rPr lang="en" sz="1700"/>
              <a:t>In contrast to the consensus, our financial projections may reflect </a:t>
            </a:r>
            <a:r>
              <a:rPr lang="en" sz="1700" b="1"/>
              <a:t>more conservative or risk-averse assumptions</a:t>
            </a:r>
            <a:r>
              <a:rPr lang="en" sz="1700"/>
              <a:t>, leading to negative IRR for the previous years</a:t>
            </a:r>
            <a:endParaRPr sz="2400"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950" y="794250"/>
            <a:ext cx="4180249" cy="8084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9575" y="3918150"/>
            <a:ext cx="3804674" cy="4808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431800" y="575950"/>
            <a:ext cx="80064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areas</a:t>
            </a: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304798" y="1602675"/>
            <a:ext cx="51669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800"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475" y="88150"/>
            <a:ext cx="5002500" cy="268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00" y="1739900"/>
            <a:ext cx="8281774" cy="3371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4026250" y="3917525"/>
            <a:ext cx="3403500" cy="3429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5625"/>
            <a:ext cx="8839199" cy="433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25" y="323675"/>
            <a:ext cx="8839199" cy="46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39199" cy="27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31050"/>
            <a:ext cx="8930900" cy="24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42900" y="575950"/>
            <a:ext cx="8379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and Transaction Structure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444500" y="1384300"/>
            <a:ext cx="8287200" cy="32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Premium, leverage, and downside protection</a:t>
            </a:r>
            <a:endParaRPr sz="21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assume 20% premium on the market share price.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debt-to-equity ratio is around 67%.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Contingent Value Rights (CVR)</a:t>
            </a:r>
            <a:endParaRPr sz="1700"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Performance based bonus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Compare Trade and transaction comps</a:t>
            </a:r>
            <a:endParaRPr sz="21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Array’s EV TO EBITDA vs. NextEra Energy’s EV TO EBITDA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Array’s acquisition premium vs. NextEra Energy’s acquisition premium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049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2"/>
          </p:nvPr>
        </p:nvSpPr>
        <p:spPr>
          <a:xfrm>
            <a:off x="4782950" y="549350"/>
            <a:ext cx="4117500" cy="42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 b="1"/>
              <a:t>Approach Management team</a:t>
            </a:r>
            <a:endParaRPr sz="21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Directly and Privately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Avoid hostile reactions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Align interest with performance bonuses, leadership roles, etc</a:t>
            </a: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 b="1"/>
              <a:t>Approach to shareholders </a:t>
            </a:r>
            <a:endParaRPr sz="21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Tailoring offer to maximize returns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Direct negotiation to avoid poison pills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Buyouts stake (unwanted)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150" y="75138"/>
            <a:ext cx="6967601" cy="499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/>
          <p:nvPr/>
        </p:nvSpPr>
        <p:spPr>
          <a:xfrm>
            <a:off x="950825" y="3307625"/>
            <a:ext cx="3358200" cy="809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97475" y="433275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Post-Acquisition Value Creation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449675" y="1099850"/>
            <a:ext cx="7340100" cy="3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Operational Efficiency Initiatives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Resource Reallocation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Integration of Digital Tools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Supply Chain Optimization</a:t>
            </a:r>
            <a:endParaRPr sz="16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Market Share Growth Initiatives</a:t>
            </a:r>
            <a:endParaRPr sz="21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Global expansion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Strategic Partnerships</a:t>
            </a:r>
            <a:endParaRPr sz="16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Potential M&amp;A Targets</a:t>
            </a:r>
            <a:endParaRPr sz="21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Competitors</a:t>
            </a:r>
            <a:endParaRPr sz="16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Expansion into Adjacent Products or New End-Market</a:t>
            </a:r>
            <a:endParaRPr sz="21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Solar-agriculture strategy 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Assumption and Returns with Sensitivity</a:t>
            </a: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75" y="1051175"/>
            <a:ext cx="8465601" cy="409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975" y="529125"/>
            <a:ext cx="8013675" cy="1308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600" y="1964275"/>
            <a:ext cx="7312026" cy="18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7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and Mitigants</a:t>
            </a:r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subTitle" idx="1"/>
          </p:nvPr>
        </p:nvSpPr>
        <p:spPr>
          <a:xfrm>
            <a:off x="314725" y="4306721"/>
            <a:ext cx="40452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2"/>
          </p:nvPr>
        </p:nvSpPr>
        <p:spPr>
          <a:xfrm>
            <a:off x="4939500" y="202300"/>
            <a:ext cx="3837000" cy="48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Market Competition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Product Differentiation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Supply Chain Disruption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Strategic Partnerships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Leverage and Financing Instability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Operational improvement to ensure strong cash flow from operations and maintaining reasonable leverage ratio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Microsoft Office PowerPoint</Application>
  <PresentationFormat>On-screen Show (16:9)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Raleway</vt:lpstr>
      <vt:lpstr>Lato</vt:lpstr>
      <vt:lpstr>Arial</vt:lpstr>
      <vt:lpstr>Swiss</vt:lpstr>
      <vt:lpstr>Array Technologies Inc Acquisition Presentation</vt:lpstr>
      <vt:lpstr>Overview</vt:lpstr>
      <vt:lpstr>Market and Industry Information</vt:lpstr>
      <vt:lpstr>Market and Industry Information</vt:lpstr>
      <vt:lpstr>PowerPoint Presentation</vt:lpstr>
      <vt:lpstr>Financial Projection</vt:lpstr>
      <vt:lpstr>Attention areas</vt:lpstr>
      <vt:lpstr>PowerPoint Presentation</vt:lpstr>
      <vt:lpstr>PowerPoint Presentation</vt:lpstr>
      <vt:lpstr>PowerPoint Presentation</vt:lpstr>
      <vt:lpstr>Valuation and Transaction Structure</vt:lpstr>
      <vt:lpstr>PowerPoint Presentation</vt:lpstr>
      <vt:lpstr>Approach</vt:lpstr>
      <vt:lpstr>PowerPoint Presentation</vt:lpstr>
      <vt:lpstr>Post-Acquisition Value Creation</vt:lpstr>
      <vt:lpstr>Exit Assumption and Returns with Sensitivity</vt:lpstr>
      <vt:lpstr>PowerPoint Presentation</vt:lpstr>
      <vt:lpstr>Risk and Mitigants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</dc:creator>
  <cp:lastModifiedBy>Liuxin Pan</cp:lastModifiedBy>
  <cp:revision>1</cp:revision>
  <dcterms:modified xsi:type="dcterms:W3CDTF">2025-12-24T03:28:47Z</dcterms:modified>
</cp:coreProperties>
</file>